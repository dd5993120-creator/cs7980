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Sampling on all 9,108 papers with Qwen3-32B, the same model as the steering runs: the model gets only the title, with no search or retrieval, and writes 50 author lists on its own. We count true authors per 100 known papers, the same unit as the steering results, and subtract a chance baseline for common surnames.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test already uses real teams of other papers and four option orders. This track adds harder wrong options taken from the model's own sampled answers, plus controls, to re-check which papers are really 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the team's labels, sampling splits the known papers into reachable ones, which selection can fix, and unreachable ones, which are the real target for steering and J-Lens. Unknown papers serve as a negative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full sampling run and the harder test. Next: selection methods on the candidate pools, compared with the default answer, chain of thought and steering at layer 24 at equal compute. Settings are chosen on the tune split only; the test split is used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4114800" cy="201168"/>
          </a:xfrm>
          <a:prstGeom prst="rect">
            <a:avLst/>
          </a:prstGeom>
          <a:noFill/>
          <a:ln/>
        </p:spPr>
        <p:txBody>
          <a:bodyPr wrap="square" lIns="0" tIns="0" rIns="0" bIns="0" rtlCol="0" anchor="ctr"/>
          <a:lstStyle/>
          <a:p>
            <a:pPr indent="0" marL="0">
              <a:buNone/>
            </a:pPr>
            <a:r>
              <a:rPr lang="en-US" sz="700" dirty="0">
                <a:solidFill>
                  <a:srgbClr val="8A8A8A"/>
                </a:solidFill>
                <a:latin typeface="Noto Sans KR" pitchFamily="34" charset="0"/>
                <a:ea typeface="Noto Sans KR" pitchFamily="34" charset="-122"/>
                <a:cs typeface="Noto Sans KR" pitchFamily="34" charset="-120"/>
              </a:rPr>
              <a:t>CS 7980  ·  Enhancing Memory of LLMs</a:t>
            </a:r>
            <a:endParaRPr lang="en-US" sz="7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Noto Sans KR" pitchFamily="34" charset="0"/>
                <a:ea typeface="Noto Sans KR" pitchFamily="34" charset="-122"/>
                <a:cs typeface="Noto Sans KR" pitchFamily="34" charset="-120"/>
              </a:rPr>
              <a:t>01</a:t>
            </a:r>
            <a:pPr indent="0" marL="0">
              <a:buNone/>
            </a:pPr>
            <a:r>
              <a:rPr lang="en-US" sz="900" dirty="0">
                <a:solidFill>
                  <a:srgbClr val="8A8A8A"/>
                </a:solidFill>
                <a:latin typeface="Noto Sans KR" pitchFamily="34" charset="0"/>
                <a:ea typeface="Noto Sans KR" pitchFamily="34" charset="-122"/>
                <a:cs typeface="Noto Sans KR" pitchFamily="34" charset="-120"/>
              </a:rPr>
              <a:t>  Sampling</a:t>
            </a:r>
            <a:endParaRPr lang="en-US" sz="900" dirty="0"/>
          </a:p>
        </p:txBody>
      </p:sp>
      <p:sp>
        <p:nvSpPr>
          <p:cNvPr id="3" name="Presenter pill"/>
          <p:cNvSpPr/>
          <p:nvPr/>
        </p:nvSpPr>
        <p:spPr>
          <a:xfrm>
            <a:off x="7059168" y="201168"/>
            <a:ext cx="1673352" cy="283464"/>
          </a:xfrm>
          <a:prstGeom prst="roundRect">
            <a:avLst>
              <a:gd name="adj" fmla="val 16129"/>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Noto Sans KR" pitchFamily="34" charset="0"/>
                <a:ea typeface="Noto Sans KR" pitchFamily="34" charset="-122"/>
                <a:cs typeface="Noto Sans KR" pitchFamily="34" charset="-120"/>
              </a:rPr>
              <a:t>Presenter  </a:t>
            </a:r>
            <a:pPr algn="ctr" indent="0" marL="0">
              <a:buNone/>
            </a:pPr>
            <a:r>
              <a:rPr lang="en-US" sz="800" b="1" dirty="0">
                <a:solidFill>
                  <a:srgbClr val="3442C8"/>
                </a:solidFill>
                <a:latin typeface="Noto Sans KR" pitchFamily="34" charset="0"/>
                <a:ea typeface="Noto Sans KR" pitchFamily="34" charset="-122"/>
                <a:cs typeface="Noto Sans KR"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Noto Sans KR" pitchFamily="34" charset="0"/>
                <a:ea typeface="Noto Sans KR" pitchFamily="34" charset="-122"/>
                <a:cs typeface="Noto Sans KR" pitchFamily="34" charset="-120"/>
              </a:rPr>
              <a:t>Sampling Author Lists for Every Paper</a:t>
            </a:r>
            <a:endParaRPr lang="en-US" sz="2200" dirty="0"/>
          </a:p>
        </p:txBody>
      </p:sp>
      <p:sp>
        <p:nvSpPr>
          <p:cNvPr id="6" name="Key message"/>
          <p:cNvSpPr/>
          <p:nvPr/>
        </p:nvSpPr>
        <p:spPr>
          <a:xfrm>
            <a:off x="457200" y="4261104"/>
            <a:ext cx="8275320" cy="365760"/>
          </a:xfrm>
          <a:prstGeom prst="roundRect">
            <a:avLst>
              <a:gd name="adj" fmla="val 125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Noto Sans KR" pitchFamily="34" charset="0"/>
                <a:ea typeface="Noto Sans KR" pitchFamily="34" charset="-122"/>
                <a:cs typeface="Noto Sans KR" pitchFamily="34" charset="-120"/>
              </a:rPr>
              <a:t>Question: of the true authors the default answer misses, how many appear somewhere in the 50 lists?</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Noto Sans KR" pitchFamily="34" charset="0"/>
                <a:ea typeface="Noto Sans KR" pitchFamily="34" charset="-122"/>
                <a:cs typeface="Noto Sans KR" pitchFamily="34" charset="-120"/>
              </a:rPr>
              <a:t>01</a:t>
            </a:r>
            <a:endParaRPr lang="en-US" sz="700" dirty="0"/>
          </a:p>
        </p:txBody>
      </p:sp>
      <p:sp>
        <p:nvSpPr>
          <p:cNvPr id="9" name="Shape 7"/>
          <p:cNvSpPr/>
          <p:nvPr/>
        </p:nvSpPr>
        <p:spPr>
          <a:xfrm>
            <a:off x="457200" y="1042416"/>
            <a:ext cx="830275" cy="219456"/>
          </a:xfrm>
          <a:prstGeom prst="roundRect">
            <a:avLst>
              <a:gd name="adj" fmla="val 20833"/>
            </a:avLst>
          </a:prstGeom>
          <a:solidFill>
            <a:srgbClr val="5B6CFF"/>
          </a:solidFill>
          <a:ln w="12700">
            <a:solidFill>
              <a:srgbClr val="5B6CFF"/>
            </a:solidFill>
            <a:prstDash val="solid"/>
          </a:ln>
        </p:spPr>
      </p:sp>
      <p:sp>
        <p:nvSpPr>
          <p:cNvPr id="10" name="Text 8"/>
          <p:cNvSpPr txBox="1"/>
          <p:nvPr/>
        </p:nvSpPr>
        <p:spPr>
          <a:xfrm>
            <a:off x="457200" y="1042416"/>
            <a:ext cx="830275"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Noto Sans KR" pitchFamily="34" charset="0"/>
                <a:ea typeface="Noto Sans KR" pitchFamily="34" charset="-122"/>
                <a:cs typeface="Noto Sans KR" pitchFamily="34" charset="-120"/>
              </a:rPr>
              <a:t>IN PROGRESS</a:t>
            </a:r>
            <a:endParaRPr lang="en-US" sz="800" dirty="0"/>
          </a:p>
        </p:txBody>
      </p:sp>
      <p:sp>
        <p:nvSpPr>
          <p:cNvPr id="11" name="Text 9"/>
          <p:cNvSpPr txBox="1"/>
          <p:nvPr/>
        </p:nvSpPr>
        <p:spPr>
          <a:xfrm>
            <a:off x="1397203" y="1042416"/>
            <a:ext cx="5486400" cy="219456"/>
          </a:xfrm>
          <a:prstGeom prst="rect">
            <a:avLst/>
          </a:prstGeom>
          <a:noFill/>
          <a:ln/>
        </p:spPr>
        <p:txBody>
          <a:bodyPr wrap="square" lIns="0" tIns="0" rIns="0" bIns="0" rtlCol="0" anchor="ctr"/>
          <a:lstStyle/>
          <a:p>
            <a:pPr indent="0" marL="0">
              <a:buNone/>
            </a:pPr>
            <a:r>
              <a:rPr lang="en-US" sz="900" dirty="0">
                <a:solidFill>
                  <a:srgbClr val="8A8A8A"/>
                </a:solidFill>
                <a:latin typeface="Noto Sans KR" pitchFamily="34" charset="0"/>
                <a:ea typeface="Noto Sans KR" pitchFamily="34" charset="-122"/>
                <a:cs typeface="Noto Sans KR" pitchFamily="34" charset="-120"/>
              </a:rPr>
              <a:t>Running on all 9,108 papers</a:t>
            </a:r>
            <a:endParaRPr lang="en-US" sz="900" dirty="0"/>
          </a:p>
        </p:txBody>
      </p:sp>
      <p:sp>
        <p:nvSpPr>
          <p:cNvPr id="12" name="Step 1"/>
          <p:cNvSpPr/>
          <p:nvPr/>
        </p:nvSpPr>
        <p:spPr>
          <a:xfrm>
            <a:off x="457200" y="1389888"/>
            <a:ext cx="1883664" cy="914400"/>
          </a:xfrm>
          <a:prstGeom prst="roundRect">
            <a:avLst>
              <a:gd name="adj" fmla="val 5000"/>
            </a:avLst>
          </a:prstGeom>
          <a:solidFill>
            <a:srgbClr val="F3F4F6"/>
          </a:solidFill>
          <a:ln w="12700">
            <a:solidFill>
              <a:srgbClr val="F3F4F6"/>
            </a:solidFill>
            <a:prstDash val="solid"/>
          </a:ln>
        </p:spPr>
      </p:sp>
      <p:sp>
        <p:nvSpPr>
          <p:cNvPr id="13" name="Shape 11"/>
          <p:cNvSpPr/>
          <p:nvPr/>
        </p:nvSpPr>
        <p:spPr>
          <a:xfrm>
            <a:off x="585216" y="1499616"/>
            <a:ext cx="237744" cy="237744"/>
          </a:xfrm>
          <a:prstGeom prst="ellipse">
            <a:avLst/>
          </a:prstGeom>
          <a:solidFill>
            <a:srgbClr val="5B6CFF"/>
          </a:solidFill>
          <a:ln w="12700">
            <a:solidFill>
              <a:srgbClr val="5B6CFF"/>
            </a:solidFill>
            <a:prstDash val="solid"/>
          </a:ln>
        </p:spPr>
      </p:sp>
      <p:sp>
        <p:nvSpPr>
          <p:cNvPr id="14" name="Text 12"/>
          <p:cNvSpPr txBox="1"/>
          <p:nvPr/>
        </p:nvSpPr>
        <p:spPr>
          <a:xfrm>
            <a:off x="585216" y="14996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1</a:t>
            </a:r>
            <a:endParaRPr lang="en-US" sz="900" dirty="0"/>
          </a:p>
        </p:txBody>
      </p:sp>
      <p:sp>
        <p:nvSpPr>
          <p:cNvPr id="15" name="Text 13"/>
          <p:cNvSpPr txBox="1"/>
          <p:nvPr/>
        </p:nvSpPr>
        <p:spPr>
          <a:xfrm>
            <a:off x="914400" y="1499616"/>
            <a:ext cx="1325880" cy="237744"/>
          </a:xfrm>
          <a:prstGeom prst="rect">
            <a:avLst/>
          </a:prstGeom>
          <a:noFill/>
          <a:ln/>
        </p:spPr>
        <p:txBody>
          <a:bodyPr wrap="square" lIns="0" tIns="0" rIns="0" bIns="0" rtlCol="0" anchor="ctr"/>
          <a:lstStyle/>
          <a:p>
            <a:pPr indent="0" marL="0">
              <a:buNone/>
            </a:pPr>
            <a:r>
              <a:rPr lang="en-US" sz="1100" b="1" dirty="0">
                <a:solidFill>
                  <a:srgbClr val="191919"/>
                </a:solidFill>
                <a:latin typeface="Noto Sans KR" pitchFamily="34" charset="0"/>
                <a:ea typeface="Noto Sans KR" pitchFamily="34" charset="-122"/>
                <a:cs typeface="Noto Sans KR" pitchFamily="34" charset="-120"/>
              </a:rPr>
              <a:t>Ask</a:t>
            </a:r>
            <a:endParaRPr lang="en-US" sz="1100" dirty="0"/>
          </a:p>
        </p:txBody>
      </p:sp>
      <p:sp>
        <p:nvSpPr>
          <p:cNvPr id="16" name="Text 14"/>
          <p:cNvSpPr txBox="1"/>
          <p:nvPr/>
        </p:nvSpPr>
        <p:spPr>
          <a:xfrm>
            <a:off x="585216" y="1810512"/>
            <a:ext cx="1645920" cy="457200"/>
          </a:xfrm>
          <a:prstGeom prst="rect">
            <a:avLst/>
          </a:prstGeom>
          <a:noFill/>
          <a:ln/>
        </p:spPr>
        <p:txBody>
          <a:bodyPr wrap="square" lIns="0" tIns="0" rIns="0" bIns="0" rtlCol="0" anchor="t"/>
          <a:lstStyle/>
          <a:p>
            <a:pPr indent="0" marL="0">
              <a:buNone/>
            </a:pPr>
            <a:r>
              <a:rPr lang="en-US" sz="900" dirty="0">
                <a:solidFill>
                  <a:srgbClr val="333333"/>
                </a:solidFill>
                <a:latin typeface="Noto Sans KR" pitchFamily="34" charset="0"/>
                <a:ea typeface="Noto Sans KR" pitchFamily="34" charset="-122"/>
                <a:cs typeface="Noto Sans KR" pitchFamily="34" charset="-120"/>
              </a:rPr>
              <a:t>Qwen3-32B gets only the title; no search, no retrieval</a:t>
            </a:r>
            <a:endParaRPr lang="en-US" sz="900" dirty="0"/>
          </a:p>
        </p:txBody>
      </p:sp>
      <p:sp>
        <p:nvSpPr>
          <p:cNvPr id="17" name="Shape 15"/>
          <p:cNvSpPr/>
          <p:nvPr/>
        </p:nvSpPr>
        <p:spPr>
          <a:xfrm>
            <a:off x="2359152" y="1847088"/>
            <a:ext cx="210312" cy="0"/>
          </a:xfrm>
          <a:prstGeom prst="line">
            <a:avLst/>
          </a:prstGeom>
          <a:noFill/>
          <a:ln w="15875">
            <a:solidFill>
              <a:srgbClr val="A1A1A1"/>
            </a:solidFill>
            <a:prstDash val="solid"/>
            <a:tailEnd type="triangle"/>
          </a:ln>
        </p:spPr>
      </p:sp>
      <p:sp>
        <p:nvSpPr>
          <p:cNvPr id="18" name="Step 2"/>
          <p:cNvSpPr/>
          <p:nvPr/>
        </p:nvSpPr>
        <p:spPr>
          <a:xfrm>
            <a:off x="2587752" y="1389888"/>
            <a:ext cx="1883664" cy="914400"/>
          </a:xfrm>
          <a:prstGeom prst="roundRect">
            <a:avLst>
              <a:gd name="adj" fmla="val 5000"/>
            </a:avLst>
          </a:prstGeom>
          <a:solidFill>
            <a:srgbClr val="F3F4F6"/>
          </a:solidFill>
          <a:ln w="12700">
            <a:solidFill>
              <a:srgbClr val="F3F4F6"/>
            </a:solidFill>
            <a:prstDash val="solid"/>
          </a:ln>
        </p:spPr>
      </p:sp>
      <p:sp>
        <p:nvSpPr>
          <p:cNvPr id="19" name="Shape 17"/>
          <p:cNvSpPr/>
          <p:nvPr/>
        </p:nvSpPr>
        <p:spPr>
          <a:xfrm>
            <a:off x="2715768" y="1499616"/>
            <a:ext cx="237744" cy="237744"/>
          </a:xfrm>
          <a:prstGeom prst="ellipse">
            <a:avLst/>
          </a:prstGeom>
          <a:solidFill>
            <a:srgbClr val="5B6CFF"/>
          </a:solidFill>
          <a:ln w="12700">
            <a:solidFill>
              <a:srgbClr val="5B6CFF"/>
            </a:solidFill>
            <a:prstDash val="solid"/>
          </a:ln>
        </p:spPr>
      </p:sp>
      <p:sp>
        <p:nvSpPr>
          <p:cNvPr id="20" name="Text 18"/>
          <p:cNvSpPr txBox="1"/>
          <p:nvPr/>
        </p:nvSpPr>
        <p:spPr>
          <a:xfrm>
            <a:off x="2715768" y="14996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2</a:t>
            </a:r>
            <a:endParaRPr lang="en-US" sz="900" dirty="0"/>
          </a:p>
        </p:txBody>
      </p:sp>
      <p:sp>
        <p:nvSpPr>
          <p:cNvPr id="21" name="Text 19"/>
          <p:cNvSpPr txBox="1"/>
          <p:nvPr/>
        </p:nvSpPr>
        <p:spPr>
          <a:xfrm>
            <a:off x="3044952" y="1499616"/>
            <a:ext cx="1325880" cy="237744"/>
          </a:xfrm>
          <a:prstGeom prst="rect">
            <a:avLst/>
          </a:prstGeom>
          <a:noFill/>
          <a:ln/>
        </p:spPr>
        <p:txBody>
          <a:bodyPr wrap="square" lIns="0" tIns="0" rIns="0" bIns="0" rtlCol="0" anchor="ctr"/>
          <a:lstStyle/>
          <a:p>
            <a:pPr indent="0" marL="0">
              <a:buNone/>
            </a:pPr>
            <a:r>
              <a:rPr lang="en-US" sz="1100" b="1" dirty="0">
                <a:solidFill>
                  <a:srgbClr val="191919"/>
                </a:solidFill>
                <a:latin typeface="Noto Sans KR" pitchFamily="34" charset="0"/>
                <a:ea typeface="Noto Sans KR" pitchFamily="34" charset="-122"/>
                <a:cs typeface="Noto Sans KR" pitchFamily="34" charset="-120"/>
              </a:rPr>
              <a:t>Sample</a:t>
            </a:r>
            <a:endParaRPr lang="en-US" sz="1100" dirty="0"/>
          </a:p>
        </p:txBody>
      </p:sp>
      <p:sp>
        <p:nvSpPr>
          <p:cNvPr id="22" name="Text 20"/>
          <p:cNvSpPr txBox="1"/>
          <p:nvPr/>
        </p:nvSpPr>
        <p:spPr>
          <a:xfrm>
            <a:off x="2715768" y="1810512"/>
            <a:ext cx="1645920" cy="457200"/>
          </a:xfrm>
          <a:prstGeom prst="rect">
            <a:avLst/>
          </a:prstGeom>
          <a:noFill/>
          <a:ln/>
        </p:spPr>
        <p:txBody>
          <a:bodyPr wrap="square" lIns="0" tIns="0" rIns="0" bIns="0" rtlCol="0" anchor="t"/>
          <a:lstStyle/>
          <a:p>
            <a:pPr indent="0" marL="0">
              <a:buNone/>
            </a:pPr>
            <a:r>
              <a:rPr lang="en-US" sz="900" dirty="0">
                <a:solidFill>
                  <a:srgbClr val="333333"/>
                </a:solidFill>
                <a:latin typeface="Noto Sans KR" pitchFamily="34" charset="0"/>
                <a:ea typeface="Noto Sans KR" pitchFamily="34" charset="-122"/>
                <a:cs typeface="Noto Sans KR" pitchFamily="34" charset="-120"/>
              </a:rPr>
              <a:t>It writes 50 author lists on its own, with randomness</a:t>
            </a:r>
            <a:endParaRPr lang="en-US" sz="900" dirty="0"/>
          </a:p>
        </p:txBody>
      </p:sp>
      <p:sp>
        <p:nvSpPr>
          <p:cNvPr id="23" name="Shape 21"/>
          <p:cNvSpPr/>
          <p:nvPr/>
        </p:nvSpPr>
        <p:spPr>
          <a:xfrm>
            <a:off x="4489704" y="1847088"/>
            <a:ext cx="210312" cy="0"/>
          </a:xfrm>
          <a:prstGeom prst="line">
            <a:avLst/>
          </a:prstGeom>
          <a:noFill/>
          <a:ln w="15875">
            <a:solidFill>
              <a:srgbClr val="A1A1A1"/>
            </a:solidFill>
            <a:prstDash val="solid"/>
            <a:tailEnd type="triangle"/>
          </a:ln>
        </p:spPr>
      </p:sp>
      <p:sp>
        <p:nvSpPr>
          <p:cNvPr id="24" name="Step 3"/>
          <p:cNvSpPr/>
          <p:nvPr/>
        </p:nvSpPr>
        <p:spPr>
          <a:xfrm>
            <a:off x="4718304" y="1389888"/>
            <a:ext cx="1883664" cy="914400"/>
          </a:xfrm>
          <a:prstGeom prst="roundRect">
            <a:avLst>
              <a:gd name="adj" fmla="val 5000"/>
            </a:avLst>
          </a:prstGeom>
          <a:solidFill>
            <a:srgbClr val="F3F4F6"/>
          </a:solidFill>
          <a:ln w="12700">
            <a:solidFill>
              <a:srgbClr val="F3F4F6"/>
            </a:solidFill>
            <a:prstDash val="solid"/>
          </a:ln>
        </p:spPr>
      </p:sp>
      <p:sp>
        <p:nvSpPr>
          <p:cNvPr id="25" name="Shape 23"/>
          <p:cNvSpPr/>
          <p:nvPr/>
        </p:nvSpPr>
        <p:spPr>
          <a:xfrm>
            <a:off x="4846320" y="1499616"/>
            <a:ext cx="237744" cy="237744"/>
          </a:xfrm>
          <a:prstGeom prst="ellipse">
            <a:avLst/>
          </a:prstGeom>
          <a:solidFill>
            <a:srgbClr val="5B6CFF"/>
          </a:solidFill>
          <a:ln w="12700">
            <a:solidFill>
              <a:srgbClr val="5B6CFF"/>
            </a:solidFill>
            <a:prstDash val="solid"/>
          </a:ln>
        </p:spPr>
      </p:sp>
      <p:sp>
        <p:nvSpPr>
          <p:cNvPr id="26" name="Text 24"/>
          <p:cNvSpPr txBox="1"/>
          <p:nvPr/>
        </p:nvSpPr>
        <p:spPr>
          <a:xfrm>
            <a:off x="4846320" y="14996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3</a:t>
            </a:r>
            <a:endParaRPr lang="en-US" sz="900" dirty="0"/>
          </a:p>
        </p:txBody>
      </p:sp>
      <p:sp>
        <p:nvSpPr>
          <p:cNvPr id="27" name="Text 25"/>
          <p:cNvSpPr txBox="1"/>
          <p:nvPr/>
        </p:nvSpPr>
        <p:spPr>
          <a:xfrm>
            <a:off x="5175504" y="1499616"/>
            <a:ext cx="1325880" cy="237744"/>
          </a:xfrm>
          <a:prstGeom prst="rect">
            <a:avLst/>
          </a:prstGeom>
          <a:noFill/>
          <a:ln/>
        </p:spPr>
        <p:txBody>
          <a:bodyPr wrap="square" lIns="0" tIns="0" rIns="0" bIns="0" rtlCol="0" anchor="ctr"/>
          <a:lstStyle/>
          <a:p>
            <a:pPr indent="0" marL="0">
              <a:buNone/>
            </a:pPr>
            <a:r>
              <a:rPr lang="en-US" sz="1100" b="1" dirty="0">
                <a:solidFill>
                  <a:srgbClr val="191919"/>
                </a:solidFill>
                <a:latin typeface="Noto Sans KR" pitchFamily="34" charset="0"/>
                <a:ea typeface="Noto Sans KR" pitchFamily="34" charset="-122"/>
                <a:cs typeface="Noto Sans KR" pitchFamily="34" charset="-120"/>
              </a:rPr>
              <a:t>Match</a:t>
            </a:r>
            <a:endParaRPr lang="en-US" sz="1100" dirty="0"/>
          </a:p>
        </p:txBody>
      </p:sp>
      <p:sp>
        <p:nvSpPr>
          <p:cNvPr id="28" name="Text 26"/>
          <p:cNvSpPr txBox="1"/>
          <p:nvPr/>
        </p:nvSpPr>
        <p:spPr>
          <a:xfrm>
            <a:off x="4846320" y="1810512"/>
            <a:ext cx="1645920" cy="457200"/>
          </a:xfrm>
          <a:prstGeom prst="rect">
            <a:avLst/>
          </a:prstGeom>
          <a:noFill/>
          <a:ln/>
        </p:spPr>
        <p:txBody>
          <a:bodyPr wrap="square" lIns="0" tIns="0" rIns="0" bIns="0" rtlCol="0" anchor="t"/>
          <a:lstStyle/>
          <a:p>
            <a:pPr indent="0" marL="0">
              <a:buNone/>
            </a:pPr>
            <a:r>
              <a:rPr lang="en-US" sz="900" dirty="0">
                <a:solidFill>
                  <a:srgbClr val="333333"/>
                </a:solidFill>
                <a:latin typeface="Noto Sans KR" pitchFamily="34" charset="0"/>
                <a:ea typeface="Noto Sans KR" pitchFamily="34" charset="-122"/>
                <a:cs typeface="Noto Sans KR" pitchFamily="34" charset="-120"/>
              </a:rPr>
              <a:t>Compare each name with the true authors</a:t>
            </a:r>
            <a:endParaRPr lang="en-US" sz="900" dirty="0"/>
          </a:p>
        </p:txBody>
      </p:sp>
      <p:sp>
        <p:nvSpPr>
          <p:cNvPr id="29" name="Shape 27"/>
          <p:cNvSpPr/>
          <p:nvPr/>
        </p:nvSpPr>
        <p:spPr>
          <a:xfrm>
            <a:off x="6620256" y="1847088"/>
            <a:ext cx="210312" cy="0"/>
          </a:xfrm>
          <a:prstGeom prst="line">
            <a:avLst/>
          </a:prstGeom>
          <a:noFill/>
          <a:ln w="15875">
            <a:solidFill>
              <a:srgbClr val="A1A1A1"/>
            </a:solidFill>
            <a:prstDash val="solid"/>
            <a:tailEnd type="triangle"/>
          </a:ln>
        </p:spPr>
      </p:sp>
      <p:sp>
        <p:nvSpPr>
          <p:cNvPr id="30" name="Step 4"/>
          <p:cNvSpPr/>
          <p:nvPr/>
        </p:nvSpPr>
        <p:spPr>
          <a:xfrm>
            <a:off x="6848856" y="1389888"/>
            <a:ext cx="1883664" cy="914400"/>
          </a:xfrm>
          <a:prstGeom prst="roundRect">
            <a:avLst>
              <a:gd name="adj" fmla="val 5000"/>
            </a:avLst>
          </a:prstGeom>
          <a:solidFill>
            <a:srgbClr val="F3F4F6"/>
          </a:solidFill>
          <a:ln w="12700">
            <a:solidFill>
              <a:srgbClr val="F3F4F6"/>
            </a:solidFill>
            <a:prstDash val="solid"/>
          </a:ln>
        </p:spPr>
      </p:sp>
      <p:sp>
        <p:nvSpPr>
          <p:cNvPr id="31" name="Shape 29"/>
          <p:cNvSpPr/>
          <p:nvPr/>
        </p:nvSpPr>
        <p:spPr>
          <a:xfrm>
            <a:off x="6976872" y="1499616"/>
            <a:ext cx="237744" cy="237744"/>
          </a:xfrm>
          <a:prstGeom prst="ellipse">
            <a:avLst/>
          </a:prstGeom>
          <a:solidFill>
            <a:srgbClr val="5B6CFF"/>
          </a:solidFill>
          <a:ln w="12700">
            <a:solidFill>
              <a:srgbClr val="5B6CFF"/>
            </a:solidFill>
            <a:prstDash val="solid"/>
          </a:ln>
        </p:spPr>
      </p:sp>
      <p:sp>
        <p:nvSpPr>
          <p:cNvPr id="32" name="Text 30"/>
          <p:cNvSpPr txBox="1"/>
          <p:nvPr/>
        </p:nvSpPr>
        <p:spPr>
          <a:xfrm>
            <a:off x="6976872" y="14996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4</a:t>
            </a:r>
            <a:endParaRPr lang="en-US" sz="900" dirty="0"/>
          </a:p>
        </p:txBody>
      </p:sp>
      <p:sp>
        <p:nvSpPr>
          <p:cNvPr id="33" name="Text 31"/>
          <p:cNvSpPr txBox="1"/>
          <p:nvPr/>
        </p:nvSpPr>
        <p:spPr>
          <a:xfrm>
            <a:off x="7306056" y="1499616"/>
            <a:ext cx="1325880" cy="237744"/>
          </a:xfrm>
          <a:prstGeom prst="rect">
            <a:avLst/>
          </a:prstGeom>
          <a:noFill/>
          <a:ln/>
        </p:spPr>
        <p:txBody>
          <a:bodyPr wrap="square" lIns="0" tIns="0" rIns="0" bIns="0" rtlCol="0" anchor="ctr"/>
          <a:lstStyle/>
          <a:p>
            <a:pPr indent="0" marL="0">
              <a:buNone/>
            </a:pPr>
            <a:r>
              <a:rPr lang="en-US" sz="1100" b="1" dirty="0">
                <a:solidFill>
                  <a:srgbClr val="191919"/>
                </a:solidFill>
                <a:latin typeface="Noto Sans KR" pitchFamily="34" charset="0"/>
                <a:ea typeface="Noto Sans KR" pitchFamily="34" charset="-122"/>
                <a:cs typeface="Noto Sans KR" pitchFamily="34" charset="-120"/>
              </a:rPr>
              <a:t>Pool</a:t>
            </a:r>
            <a:endParaRPr lang="en-US" sz="1100" dirty="0"/>
          </a:p>
        </p:txBody>
      </p:sp>
      <p:sp>
        <p:nvSpPr>
          <p:cNvPr id="34" name="Text 32"/>
          <p:cNvSpPr txBox="1"/>
          <p:nvPr/>
        </p:nvSpPr>
        <p:spPr>
          <a:xfrm>
            <a:off x="6976872" y="1810512"/>
            <a:ext cx="1645920" cy="457200"/>
          </a:xfrm>
          <a:prstGeom prst="rect">
            <a:avLst/>
          </a:prstGeom>
          <a:noFill/>
          <a:ln/>
        </p:spPr>
        <p:txBody>
          <a:bodyPr wrap="square" lIns="0" tIns="0" rIns="0" bIns="0" rtlCol="0" anchor="t"/>
          <a:lstStyle/>
          <a:p>
            <a:pPr indent="0" marL="0">
              <a:buNone/>
            </a:pPr>
            <a:r>
              <a:rPr lang="en-US" sz="900" dirty="0">
                <a:solidFill>
                  <a:srgbClr val="333333"/>
                </a:solidFill>
                <a:latin typeface="Noto Sans KR" pitchFamily="34" charset="0"/>
                <a:ea typeface="Noto Sans KR" pitchFamily="34" charset="-122"/>
                <a:cs typeface="Noto Sans KR" pitchFamily="34" charset="-120"/>
              </a:rPr>
              <a:t>All names from the 50 lists, with counts</a:t>
            </a:r>
            <a:endParaRPr lang="en-US" sz="900" dirty="0"/>
          </a:p>
        </p:txBody>
      </p:sp>
      <p:sp>
        <p:nvSpPr>
          <p:cNvPr id="35" name="What we measure"/>
          <p:cNvSpPr/>
          <p:nvPr/>
        </p:nvSpPr>
        <p:spPr>
          <a:xfrm>
            <a:off x="457200" y="2487168"/>
            <a:ext cx="4041648" cy="1609344"/>
          </a:xfrm>
          <a:prstGeom prst="roundRect">
            <a:avLst>
              <a:gd name="adj" fmla="val 2841"/>
            </a:avLst>
          </a:prstGeom>
          <a:solidFill>
            <a:srgbClr val="EEF0FF"/>
          </a:solidFill>
          <a:ln w="12700">
            <a:solidFill>
              <a:srgbClr val="EEF0FF"/>
            </a:solidFill>
            <a:prstDash val="solid"/>
          </a:ln>
        </p:spPr>
      </p:sp>
      <p:sp>
        <p:nvSpPr>
          <p:cNvPr id="36" name="Text 34"/>
          <p:cNvSpPr txBox="1"/>
          <p:nvPr/>
        </p:nvSpPr>
        <p:spPr>
          <a:xfrm>
            <a:off x="621792" y="2596896"/>
            <a:ext cx="3749040" cy="237744"/>
          </a:xfrm>
          <a:prstGeom prst="rect">
            <a:avLst/>
          </a:prstGeom>
          <a:noFill/>
          <a:ln/>
        </p:spPr>
        <p:txBody>
          <a:bodyPr wrap="square" lIns="0" tIns="0" rIns="0" bIns="0" rtlCol="0" anchor="t"/>
          <a:lstStyle/>
          <a:p>
            <a:pPr indent="0" marL="0">
              <a:buNone/>
            </a:pPr>
            <a:r>
              <a:rPr lang="en-US" sz="1100" b="1" dirty="0">
                <a:solidFill>
                  <a:srgbClr val="3442C8"/>
                </a:solidFill>
                <a:latin typeface="Noto Sans KR" pitchFamily="34" charset="0"/>
                <a:ea typeface="Noto Sans KR" pitchFamily="34" charset="-122"/>
                <a:cs typeface="Noto Sans KR" pitchFamily="34" charset="-120"/>
              </a:rPr>
              <a:t>What we measure, in the steering unit</a:t>
            </a:r>
            <a:endParaRPr lang="en-US" sz="1100" dirty="0"/>
          </a:p>
        </p:txBody>
      </p:sp>
      <p:sp>
        <p:nvSpPr>
          <p:cNvPr id="37" name="Text 35"/>
          <p:cNvSpPr txBox="1"/>
          <p:nvPr/>
        </p:nvSpPr>
        <p:spPr>
          <a:xfrm>
            <a:off x="621792" y="2889504"/>
            <a:ext cx="3749040" cy="1143000"/>
          </a:xfrm>
          <a:prstGeom prst="rect">
            <a:avLst/>
          </a:prstGeom>
          <a:noFill/>
          <a:ln/>
        </p:spPr>
        <p:txBody>
          <a:bodyPr wrap="square" lIns="0" tIns="0" rIns="0" bIns="0" rtlCol="0" anchor="t"/>
          <a:lstStyle/>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True authors named per 100 known papers, as in the steering results</a:t>
            </a:r>
            <a:endParaRPr lang="en-US" sz="950" dirty="0"/>
          </a:p>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Baseline: the model’s single default answer, as in Step 1</a:t>
            </a:r>
            <a:endParaRPr lang="en-US" sz="950" dirty="0"/>
          </a:p>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Reachable: true authors the default answer misses but some list contains</a:t>
            </a:r>
            <a:endParaRPr lang="en-US" sz="950" dirty="0"/>
          </a:p>
        </p:txBody>
      </p:sp>
      <p:sp>
        <p:nvSpPr>
          <p:cNvPr id="38" name="Chance baseline"/>
          <p:cNvSpPr/>
          <p:nvPr/>
        </p:nvSpPr>
        <p:spPr>
          <a:xfrm>
            <a:off x="4690872" y="2487168"/>
            <a:ext cx="4041648" cy="1609344"/>
          </a:xfrm>
          <a:prstGeom prst="roundRect">
            <a:avLst>
              <a:gd name="adj" fmla="val 2841"/>
            </a:avLst>
          </a:prstGeom>
          <a:solidFill>
            <a:srgbClr val="FFF1ED"/>
          </a:solidFill>
          <a:ln w="12700">
            <a:solidFill>
              <a:srgbClr val="FFF1ED"/>
            </a:solidFill>
            <a:prstDash val="solid"/>
          </a:ln>
        </p:spPr>
      </p:sp>
      <p:sp>
        <p:nvSpPr>
          <p:cNvPr id="39" name="Text 37"/>
          <p:cNvSpPr txBox="1"/>
          <p:nvPr/>
        </p:nvSpPr>
        <p:spPr>
          <a:xfrm>
            <a:off x="4855464" y="2596896"/>
            <a:ext cx="3749040" cy="237744"/>
          </a:xfrm>
          <a:prstGeom prst="rect">
            <a:avLst/>
          </a:prstGeom>
          <a:noFill/>
          <a:ln/>
        </p:spPr>
        <p:txBody>
          <a:bodyPr wrap="square" lIns="0" tIns="0" rIns="0" bIns="0" rtlCol="0" anchor="t"/>
          <a:lstStyle/>
          <a:p>
            <a:pPr indent="0" marL="0">
              <a:buNone/>
            </a:pPr>
            <a:r>
              <a:rPr lang="en-US" sz="1100" b="1" dirty="0">
                <a:solidFill>
                  <a:srgbClr val="E2614A"/>
                </a:solidFill>
                <a:latin typeface="Noto Sans KR" pitchFamily="34" charset="0"/>
                <a:ea typeface="Noto Sans KR" pitchFamily="34" charset="-122"/>
                <a:cs typeface="Noto Sans KR" pitchFamily="34" charset="-120"/>
              </a:rPr>
              <a:t>Chance baseline</a:t>
            </a:r>
            <a:endParaRPr lang="en-US" sz="1100" dirty="0"/>
          </a:p>
        </p:txBody>
      </p:sp>
      <p:sp>
        <p:nvSpPr>
          <p:cNvPr id="40" name="Text 38"/>
          <p:cNvSpPr txBox="1"/>
          <p:nvPr/>
        </p:nvSpPr>
        <p:spPr>
          <a:xfrm>
            <a:off x="4855464" y="2889504"/>
            <a:ext cx="3749040" cy="1143000"/>
          </a:xfrm>
          <a:prstGeom prst="rect">
            <a:avLst/>
          </a:prstGeom>
          <a:noFill/>
          <a:ln/>
        </p:spPr>
        <p:txBody>
          <a:bodyPr wrap="square" lIns="0" tIns="0" rIns="0" bIns="0" rtlCol="0" anchor="t"/>
          <a:lstStyle/>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Common surnames match by luck: 50 lists often contain some “J. Wang”</a:t>
            </a:r>
            <a:endParaRPr lang="en-US" sz="950" dirty="0"/>
          </a:p>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Match each paper’s lists against another paper’s authors (same field and citation bin)</a:t>
            </a:r>
            <a:endParaRPr lang="en-US" sz="950" dirty="0"/>
          </a:p>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Only coverage above this baseline counts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Noto Sans KR" pitchFamily="34" charset="0"/>
                <a:ea typeface="Noto Sans KR" pitchFamily="34" charset="-122"/>
                <a:cs typeface="Noto Sans KR" pitchFamily="34" charset="-120"/>
              </a:rPr>
              <a:t>02</a:t>
            </a:r>
            <a:pPr indent="0" marL="0">
              <a:buNone/>
            </a:pPr>
            <a:r>
              <a:rPr lang="en-US" sz="900" dirty="0">
                <a:solidFill>
                  <a:srgbClr val="8A8A8A"/>
                </a:solidFill>
                <a:latin typeface="Noto Sans KR" pitchFamily="34" charset="0"/>
                <a:ea typeface="Noto Sans KR" pitchFamily="34" charset="-122"/>
                <a:cs typeface="Noto Sans KR" pitchFamily="34" charset="-120"/>
              </a:rPr>
              <a:t>  Distractors</a:t>
            </a:r>
            <a:endParaRPr lang="en-US" sz="900" dirty="0"/>
          </a:p>
        </p:txBody>
      </p:sp>
      <p:sp>
        <p:nvSpPr>
          <p:cNvPr id="3" name="Presenter pill"/>
          <p:cNvSpPr/>
          <p:nvPr/>
        </p:nvSpPr>
        <p:spPr>
          <a:xfrm>
            <a:off x="7059168" y="201168"/>
            <a:ext cx="1673352" cy="283464"/>
          </a:xfrm>
          <a:prstGeom prst="roundRect">
            <a:avLst>
              <a:gd name="adj" fmla="val 16129"/>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Noto Sans KR" pitchFamily="34" charset="0"/>
                <a:ea typeface="Noto Sans KR" pitchFamily="34" charset="-122"/>
                <a:cs typeface="Noto Sans KR" pitchFamily="34" charset="-120"/>
              </a:rPr>
              <a:t>Presenter  </a:t>
            </a:r>
            <a:pPr algn="ctr" indent="0" marL="0">
              <a:buNone/>
            </a:pPr>
            <a:r>
              <a:rPr lang="en-US" sz="800" b="1" dirty="0">
                <a:solidFill>
                  <a:srgbClr val="3442C8"/>
                </a:solidFill>
                <a:latin typeface="Noto Sans KR" pitchFamily="34" charset="0"/>
                <a:ea typeface="Noto Sans KR" pitchFamily="34" charset="-122"/>
                <a:cs typeface="Noto Sans KR"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Noto Sans KR" pitchFamily="34" charset="0"/>
                <a:ea typeface="Noto Sans KR" pitchFamily="34" charset="-122"/>
                <a:cs typeface="Noto Sans KR" pitchFamily="34" charset="-120"/>
              </a:rPr>
              <a:t>Harder Wrong Options from the Model’s Own Answers</a:t>
            </a:r>
            <a:endParaRPr lang="en-US" sz="2200" dirty="0"/>
          </a:p>
        </p:txBody>
      </p:sp>
      <p:sp>
        <p:nvSpPr>
          <p:cNvPr id="6" name="Key message"/>
          <p:cNvSpPr/>
          <p:nvPr/>
        </p:nvSpPr>
        <p:spPr>
          <a:xfrm>
            <a:off x="457200" y="4261104"/>
            <a:ext cx="8275320" cy="365760"/>
          </a:xfrm>
          <a:prstGeom prst="roundRect">
            <a:avLst>
              <a:gd name="adj" fmla="val 125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Noto Sans KR" pitchFamily="34" charset="0"/>
                <a:ea typeface="Noto Sans KR" pitchFamily="34" charset="-122"/>
                <a:cs typeface="Noto Sans KR" pitchFamily="34" charset="-120"/>
              </a:rPr>
              <a:t>Re-checks the team’s “known” label against the wrong answers the model itself would give.</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Noto Sans KR" pitchFamily="34" charset="0"/>
                <a:ea typeface="Noto Sans KR" pitchFamily="34" charset="-122"/>
                <a:cs typeface="Noto Sans KR" pitchFamily="34" charset="-120"/>
              </a:rPr>
              <a:t>02</a:t>
            </a:r>
            <a:endParaRPr lang="en-US" sz="700" dirty="0"/>
          </a:p>
        </p:txBody>
      </p:sp>
      <p:sp>
        <p:nvSpPr>
          <p:cNvPr id="9" name="Example item"/>
          <p:cNvSpPr/>
          <p:nvPr/>
        </p:nvSpPr>
        <p:spPr>
          <a:xfrm>
            <a:off x="457200" y="1042416"/>
            <a:ext cx="4069080" cy="3054096"/>
          </a:xfrm>
          <a:prstGeom prst="roundRect">
            <a:avLst>
              <a:gd name="adj" fmla="val 1497"/>
            </a:avLst>
          </a:prstGeom>
          <a:solidFill>
            <a:srgbClr val="F3F4F6"/>
          </a:solidFill>
          <a:ln w="12700">
            <a:solidFill>
              <a:srgbClr val="F3F4F6"/>
            </a:solidFill>
            <a:prstDash val="solid"/>
          </a:ln>
        </p:spPr>
      </p:sp>
      <p:sp>
        <p:nvSpPr>
          <p:cNvPr id="10" name="Text 8"/>
          <p:cNvSpPr txBox="1"/>
          <p:nvPr/>
        </p:nvSpPr>
        <p:spPr>
          <a:xfrm>
            <a:off x="621792" y="1152144"/>
            <a:ext cx="3749040" cy="365760"/>
          </a:xfrm>
          <a:prstGeom prst="rect">
            <a:avLst/>
          </a:prstGeom>
          <a:noFill/>
          <a:ln/>
        </p:spPr>
        <p:txBody>
          <a:bodyPr wrap="square" lIns="0" tIns="0" rIns="0" bIns="0" rtlCol="0" anchor="t"/>
          <a:lstStyle/>
          <a:p>
            <a:pPr indent="0" marL="0">
              <a:buNone/>
            </a:pPr>
            <a:r>
              <a:rPr lang="en-US" sz="950" i="1" dirty="0">
                <a:solidFill>
                  <a:srgbClr val="8A8A8A"/>
                </a:solidFill>
                <a:latin typeface="Noto Sans KR" pitchFamily="34" charset="0"/>
                <a:ea typeface="Noto Sans KR" pitchFamily="34" charset="-122"/>
                <a:cs typeface="Noto Sans KR" pitchFamily="34" charset="-120"/>
              </a:rPr>
              <a:t>Who are the authors of the paper titled ‘…’, published in …?</a:t>
            </a:r>
            <a:endParaRPr lang="en-US" sz="950" dirty="0"/>
          </a:p>
        </p:txBody>
      </p:sp>
      <p:sp>
        <p:nvSpPr>
          <p:cNvPr id="11" name="Shape 9"/>
          <p:cNvSpPr/>
          <p:nvPr/>
        </p:nvSpPr>
        <p:spPr>
          <a:xfrm>
            <a:off x="621792" y="1591056"/>
            <a:ext cx="3739896" cy="411480"/>
          </a:xfrm>
          <a:prstGeom prst="roundRect">
            <a:avLst>
              <a:gd name="adj" fmla="val 11111"/>
            </a:avLst>
          </a:prstGeom>
          <a:solidFill>
            <a:srgbClr val="FFFFFF"/>
          </a:solidFill>
          <a:ln w="9525">
            <a:solidFill>
              <a:srgbClr val="E5E7EB"/>
            </a:solidFill>
            <a:prstDash val="solid"/>
          </a:ln>
        </p:spPr>
      </p:sp>
      <p:sp>
        <p:nvSpPr>
          <p:cNvPr id="12" name="Shape 10"/>
          <p:cNvSpPr/>
          <p:nvPr/>
        </p:nvSpPr>
        <p:spPr>
          <a:xfrm>
            <a:off x="722376" y="1673352"/>
            <a:ext cx="246888" cy="246888"/>
          </a:xfrm>
          <a:prstGeom prst="ellipse">
            <a:avLst/>
          </a:prstGeom>
          <a:solidFill>
            <a:srgbClr val="4B5563"/>
          </a:solidFill>
          <a:ln w="12700">
            <a:solidFill>
              <a:srgbClr val="4B5563"/>
            </a:solidFill>
            <a:prstDash val="solid"/>
          </a:ln>
        </p:spPr>
      </p:sp>
      <p:sp>
        <p:nvSpPr>
          <p:cNvPr id="13" name="Text 11"/>
          <p:cNvSpPr txBox="1"/>
          <p:nvPr/>
        </p:nvSpPr>
        <p:spPr>
          <a:xfrm>
            <a:off x="722376" y="1673352"/>
            <a:ext cx="246888"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A</a:t>
            </a:r>
            <a:endParaRPr lang="en-US" sz="900" dirty="0"/>
          </a:p>
        </p:txBody>
      </p:sp>
      <p:sp>
        <p:nvSpPr>
          <p:cNvPr id="14" name="Text 12"/>
          <p:cNvSpPr txBox="1"/>
          <p:nvPr/>
        </p:nvSpPr>
        <p:spPr>
          <a:xfrm>
            <a:off x="1078992" y="1591056"/>
            <a:ext cx="2194560" cy="411480"/>
          </a:xfrm>
          <a:prstGeom prst="rect">
            <a:avLst/>
          </a:prstGeom>
          <a:noFill/>
          <a:ln/>
        </p:spPr>
        <p:txBody>
          <a:bodyPr wrap="square" lIns="0" tIns="0" rIns="0" bIns="0" rtlCol="0" anchor="ctr"/>
          <a:lstStyle/>
          <a:p>
            <a:pPr indent="0" marL="0">
              <a:buNone/>
            </a:pPr>
            <a:r>
              <a:rPr lang="en-US" sz="950" dirty="0">
                <a:solidFill>
                  <a:srgbClr val="191919"/>
                </a:solidFill>
                <a:latin typeface="Noto Sans KR" pitchFamily="34" charset="0"/>
                <a:ea typeface="Noto Sans KR" pitchFamily="34" charset="-122"/>
                <a:cs typeface="Noto Sans KR" pitchFamily="34" charset="-120"/>
              </a:rPr>
              <a:t>True author list</a:t>
            </a:r>
            <a:endParaRPr lang="en-US" sz="950" dirty="0"/>
          </a:p>
        </p:txBody>
      </p:sp>
      <p:sp>
        <p:nvSpPr>
          <p:cNvPr id="15" name="Shape 13"/>
          <p:cNvSpPr/>
          <p:nvPr/>
        </p:nvSpPr>
        <p:spPr>
          <a:xfrm>
            <a:off x="3346704" y="1691640"/>
            <a:ext cx="914400" cy="210312"/>
          </a:xfrm>
          <a:prstGeom prst="roundRect">
            <a:avLst>
              <a:gd name="adj" fmla="val 21739"/>
            </a:avLst>
          </a:prstGeom>
          <a:solidFill>
            <a:srgbClr val="E5E7EB"/>
          </a:solidFill>
          <a:ln w="12700">
            <a:solidFill>
              <a:srgbClr val="E5E7EB"/>
            </a:solidFill>
            <a:prstDash val="solid"/>
          </a:ln>
        </p:spPr>
      </p:sp>
      <p:sp>
        <p:nvSpPr>
          <p:cNvPr id="16" name="Text 14"/>
          <p:cNvSpPr txBox="1"/>
          <p:nvPr/>
        </p:nvSpPr>
        <p:spPr>
          <a:xfrm>
            <a:off x="3346704" y="1691640"/>
            <a:ext cx="914400" cy="210312"/>
          </a:xfrm>
          <a:prstGeom prst="rect">
            <a:avLst/>
          </a:prstGeom>
          <a:noFill/>
          <a:ln/>
        </p:spPr>
        <p:txBody>
          <a:bodyPr wrap="square" lIns="0" tIns="0" rIns="0" bIns="0" rtlCol="0" anchor="ctr"/>
          <a:lstStyle/>
          <a:p>
            <a:pPr algn="ctr" indent="0" marL="0">
              <a:buNone/>
            </a:pPr>
            <a:r>
              <a:rPr lang="en-US" sz="750" b="1" dirty="0">
                <a:solidFill>
                  <a:srgbClr val="4B5563"/>
                </a:solidFill>
                <a:latin typeface="Noto Sans KR" pitchFamily="34" charset="0"/>
                <a:ea typeface="Noto Sans KR" pitchFamily="34" charset="-122"/>
                <a:cs typeface="Noto Sans KR" pitchFamily="34" charset="-120"/>
              </a:rPr>
              <a:t>ground truth</a:t>
            </a:r>
            <a:endParaRPr lang="en-US" sz="750" dirty="0"/>
          </a:p>
        </p:txBody>
      </p:sp>
      <p:sp>
        <p:nvSpPr>
          <p:cNvPr id="17" name="Shape 15"/>
          <p:cNvSpPr/>
          <p:nvPr/>
        </p:nvSpPr>
        <p:spPr>
          <a:xfrm>
            <a:off x="621792" y="2103120"/>
            <a:ext cx="3739896" cy="411480"/>
          </a:xfrm>
          <a:prstGeom prst="roundRect">
            <a:avLst>
              <a:gd name="adj" fmla="val 11111"/>
            </a:avLst>
          </a:prstGeom>
          <a:solidFill>
            <a:srgbClr val="FFFFFF"/>
          </a:solidFill>
          <a:ln w="9525">
            <a:solidFill>
              <a:srgbClr val="E5E7EB"/>
            </a:solidFill>
            <a:prstDash val="solid"/>
          </a:ln>
        </p:spPr>
      </p:sp>
      <p:sp>
        <p:nvSpPr>
          <p:cNvPr id="18" name="Shape 16"/>
          <p:cNvSpPr/>
          <p:nvPr/>
        </p:nvSpPr>
        <p:spPr>
          <a:xfrm>
            <a:off x="722376" y="2185416"/>
            <a:ext cx="246888" cy="246888"/>
          </a:xfrm>
          <a:prstGeom prst="ellipse">
            <a:avLst/>
          </a:prstGeom>
          <a:solidFill>
            <a:srgbClr val="E2614A"/>
          </a:solidFill>
          <a:ln w="12700">
            <a:solidFill>
              <a:srgbClr val="E2614A"/>
            </a:solidFill>
            <a:prstDash val="solid"/>
          </a:ln>
        </p:spPr>
      </p:sp>
      <p:sp>
        <p:nvSpPr>
          <p:cNvPr id="19" name="Text 17"/>
          <p:cNvSpPr txBox="1"/>
          <p:nvPr/>
        </p:nvSpPr>
        <p:spPr>
          <a:xfrm>
            <a:off x="722376" y="2185416"/>
            <a:ext cx="246888"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B</a:t>
            </a:r>
            <a:endParaRPr lang="en-US" sz="900" dirty="0"/>
          </a:p>
        </p:txBody>
      </p:sp>
      <p:sp>
        <p:nvSpPr>
          <p:cNvPr id="20" name="Text 18"/>
          <p:cNvSpPr txBox="1"/>
          <p:nvPr/>
        </p:nvSpPr>
        <p:spPr>
          <a:xfrm>
            <a:off x="1078992" y="2103120"/>
            <a:ext cx="2194560" cy="411480"/>
          </a:xfrm>
          <a:prstGeom prst="rect">
            <a:avLst/>
          </a:prstGeom>
          <a:noFill/>
          <a:ln/>
        </p:spPr>
        <p:txBody>
          <a:bodyPr wrap="square" lIns="0" tIns="0" rIns="0" bIns="0" rtlCol="0" anchor="ctr"/>
          <a:lstStyle/>
          <a:p>
            <a:pPr indent="0" marL="0">
              <a:buNone/>
            </a:pPr>
            <a:r>
              <a:rPr lang="en-US" sz="950" dirty="0">
                <a:solidFill>
                  <a:srgbClr val="191919"/>
                </a:solidFill>
                <a:latin typeface="Noto Sans KR" pitchFamily="34" charset="0"/>
                <a:ea typeface="Noto Sans KR" pitchFamily="34" charset="-122"/>
                <a:cs typeface="Noto Sans KR" pitchFamily="34" charset="-120"/>
              </a:rPr>
              <a:t>Wrong list the model sampled</a:t>
            </a:r>
            <a:endParaRPr lang="en-US" sz="950" dirty="0"/>
          </a:p>
        </p:txBody>
      </p:sp>
      <p:sp>
        <p:nvSpPr>
          <p:cNvPr id="21" name="Shape 19"/>
          <p:cNvSpPr/>
          <p:nvPr/>
        </p:nvSpPr>
        <p:spPr>
          <a:xfrm>
            <a:off x="3346704" y="2203704"/>
            <a:ext cx="914400" cy="210312"/>
          </a:xfrm>
          <a:prstGeom prst="roundRect">
            <a:avLst>
              <a:gd name="adj" fmla="val 21739"/>
            </a:avLst>
          </a:prstGeom>
          <a:solidFill>
            <a:srgbClr val="FFF1ED"/>
          </a:solidFill>
          <a:ln w="12700">
            <a:solidFill>
              <a:srgbClr val="FFF1ED"/>
            </a:solidFill>
            <a:prstDash val="solid"/>
          </a:ln>
        </p:spPr>
      </p:sp>
      <p:sp>
        <p:nvSpPr>
          <p:cNvPr id="22" name="Text 20"/>
          <p:cNvSpPr txBox="1"/>
          <p:nvPr/>
        </p:nvSpPr>
        <p:spPr>
          <a:xfrm>
            <a:off x="3346704" y="2203704"/>
            <a:ext cx="914400" cy="210312"/>
          </a:xfrm>
          <a:prstGeom prst="rect">
            <a:avLst/>
          </a:prstGeom>
          <a:noFill/>
          <a:ln/>
        </p:spPr>
        <p:txBody>
          <a:bodyPr wrap="square" lIns="0" tIns="0" rIns="0" bIns="0" rtlCol="0" anchor="ctr"/>
          <a:lstStyle/>
          <a:p>
            <a:pPr algn="ctr" indent="0" marL="0">
              <a:buNone/>
            </a:pPr>
            <a:r>
              <a:rPr lang="en-US" sz="750" b="1" dirty="0">
                <a:solidFill>
                  <a:srgbClr val="E2614A"/>
                </a:solidFill>
                <a:latin typeface="Noto Sans KR" pitchFamily="34" charset="0"/>
                <a:ea typeface="Noto Sans KR" pitchFamily="34" charset="-122"/>
                <a:cs typeface="Noto Sans KR" pitchFamily="34" charset="-120"/>
              </a:rPr>
              <a:t>from samples</a:t>
            </a:r>
            <a:endParaRPr lang="en-US" sz="750" dirty="0"/>
          </a:p>
        </p:txBody>
      </p:sp>
      <p:sp>
        <p:nvSpPr>
          <p:cNvPr id="23" name="Shape 21"/>
          <p:cNvSpPr/>
          <p:nvPr/>
        </p:nvSpPr>
        <p:spPr>
          <a:xfrm>
            <a:off x="621792" y="2615184"/>
            <a:ext cx="3739896" cy="411480"/>
          </a:xfrm>
          <a:prstGeom prst="roundRect">
            <a:avLst>
              <a:gd name="adj" fmla="val 11111"/>
            </a:avLst>
          </a:prstGeom>
          <a:solidFill>
            <a:srgbClr val="FFFFFF"/>
          </a:solidFill>
          <a:ln w="9525">
            <a:solidFill>
              <a:srgbClr val="E5E7EB"/>
            </a:solidFill>
            <a:prstDash val="solid"/>
          </a:ln>
        </p:spPr>
      </p:sp>
      <p:sp>
        <p:nvSpPr>
          <p:cNvPr id="24" name="Shape 22"/>
          <p:cNvSpPr/>
          <p:nvPr/>
        </p:nvSpPr>
        <p:spPr>
          <a:xfrm>
            <a:off x="722376" y="2697480"/>
            <a:ext cx="246888" cy="246888"/>
          </a:xfrm>
          <a:prstGeom prst="ellipse">
            <a:avLst/>
          </a:prstGeom>
          <a:solidFill>
            <a:srgbClr val="E2614A"/>
          </a:solidFill>
          <a:ln w="12700">
            <a:solidFill>
              <a:srgbClr val="E2614A"/>
            </a:solidFill>
            <a:prstDash val="solid"/>
          </a:ln>
        </p:spPr>
      </p:sp>
      <p:sp>
        <p:nvSpPr>
          <p:cNvPr id="25" name="Text 23"/>
          <p:cNvSpPr txBox="1"/>
          <p:nvPr/>
        </p:nvSpPr>
        <p:spPr>
          <a:xfrm>
            <a:off x="722376" y="2697480"/>
            <a:ext cx="246888"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C</a:t>
            </a:r>
            <a:endParaRPr lang="en-US" sz="900" dirty="0"/>
          </a:p>
        </p:txBody>
      </p:sp>
      <p:sp>
        <p:nvSpPr>
          <p:cNvPr id="26" name="Text 24"/>
          <p:cNvSpPr txBox="1"/>
          <p:nvPr/>
        </p:nvSpPr>
        <p:spPr>
          <a:xfrm>
            <a:off x="1078992" y="2615184"/>
            <a:ext cx="2194560" cy="411480"/>
          </a:xfrm>
          <a:prstGeom prst="rect">
            <a:avLst/>
          </a:prstGeom>
          <a:noFill/>
          <a:ln/>
        </p:spPr>
        <p:txBody>
          <a:bodyPr wrap="square" lIns="0" tIns="0" rIns="0" bIns="0" rtlCol="0" anchor="ctr"/>
          <a:lstStyle/>
          <a:p>
            <a:pPr indent="0" marL="0">
              <a:buNone/>
            </a:pPr>
            <a:r>
              <a:rPr lang="en-US" sz="950" dirty="0">
                <a:solidFill>
                  <a:srgbClr val="191919"/>
                </a:solidFill>
                <a:latin typeface="Noto Sans KR" pitchFamily="34" charset="0"/>
                <a:ea typeface="Noto Sans KR" pitchFamily="34" charset="-122"/>
                <a:cs typeface="Noto Sans KR" pitchFamily="34" charset="-120"/>
              </a:rPr>
              <a:t>Another sampled wrong list</a:t>
            </a:r>
            <a:endParaRPr lang="en-US" sz="950" dirty="0"/>
          </a:p>
        </p:txBody>
      </p:sp>
      <p:sp>
        <p:nvSpPr>
          <p:cNvPr id="27" name="Shape 25"/>
          <p:cNvSpPr/>
          <p:nvPr/>
        </p:nvSpPr>
        <p:spPr>
          <a:xfrm>
            <a:off x="3346704" y="2715768"/>
            <a:ext cx="914400" cy="210312"/>
          </a:xfrm>
          <a:prstGeom prst="roundRect">
            <a:avLst>
              <a:gd name="adj" fmla="val 21739"/>
            </a:avLst>
          </a:prstGeom>
          <a:solidFill>
            <a:srgbClr val="FFF1ED"/>
          </a:solidFill>
          <a:ln w="12700">
            <a:solidFill>
              <a:srgbClr val="FFF1ED"/>
            </a:solidFill>
            <a:prstDash val="solid"/>
          </a:ln>
        </p:spPr>
      </p:sp>
      <p:sp>
        <p:nvSpPr>
          <p:cNvPr id="28" name="Text 26"/>
          <p:cNvSpPr txBox="1"/>
          <p:nvPr/>
        </p:nvSpPr>
        <p:spPr>
          <a:xfrm>
            <a:off x="3346704" y="2715768"/>
            <a:ext cx="914400" cy="210312"/>
          </a:xfrm>
          <a:prstGeom prst="rect">
            <a:avLst/>
          </a:prstGeom>
          <a:noFill/>
          <a:ln/>
        </p:spPr>
        <p:txBody>
          <a:bodyPr wrap="square" lIns="0" tIns="0" rIns="0" bIns="0" rtlCol="0" anchor="ctr"/>
          <a:lstStyle/>
          <a:p>
            <a:pPr algn="ctr" indent="0" marL="0">
              <a:buNone/>
            </a:pPr>
            <a:r>
              <a:rPr lang="en-US" sz="750" b="1" dirty="0">
                <a:solidFill>
                  <a:srgbClr val="E2614A"/>
                </a:solidFill>
                <a:latin typeface="Noto Sans KR" pitchFamily="34" charset="0"/>
                <a:ea typeface="Noto Sans KR" pitchFamily="34" charset="-122"/>
                <a:cs typeface="Noto Sans KR" pitchFamily="34" charset="-120"/>
              </a:rPr>
              <a:t>from samples</a:t>
            </a:r>
            <a:endParaRPr lang="en-US" sz="750" dirty="0"/>
          </a:p>
        </p:txBody>
      </p:sp>
      <p:sp>
        <p:nvSpPr>
          <p:cNvPr id="29" name="Shape 27"/>
          <p:cNvSpPr/>
          <p:nvPr/>
        </p:nvSpPr>
        <p:spPr>
          <a:xfrm>
            <a:off x="621792" y="3127248"/>
            <a:ext cx="3739896" cy="411480"/>
          </a:xfrm>
          <a:prstGeom prst="roundRect">
            <a:avLst>
              <a:gd name="adj" fmla="val 11111"/>
            </a:avLst>
          </a:prstGeom>
          <a:solidFill>
            <a:srgbClr val="FFFFFF"/>
          </a:solidFill>
          <a:ln w="9525">
            <a:solidFill>
              <a:srgbClr val="E5E7EB"/>
            </a:solidFill>
            <a:prstDash val="solid"/>
          </a:ln>
        </p:spPr>
      </p:sp>
      <p:sp>
        <p:nvSpPr>
          <p:cNvPr id="30" name="Shape 28"/>
          <p:cNvSpPr/>
          <p:nvPr/>
        </p:nvSpPr>
        <p:spPr>
          <a:xfrm>
            <a:off x="722376" y="3209544"/>
            <a:ext cx="246888" cy="246888"/>
          </a:xfrm>
          <a:prstGeom prst="ellipse">
            <a:avLst/>
          </a:prstGeom>
          <a:solidFill>
            <a:srgbClr val="8A8A8A"/>
          </a:solidFill>
          <a:ln w="12700">
            <a:solidFill>
              <a:srgbClr val="8A8A8A"/>
            </a:solidFill>
            <a:prstDash val="solid"/>
          </a:ln>
        </p:spPr>
      </p:sp>
      <p:sp>
        <p:nvSpPr>
          <p:cNvPr id="31" name="Text 29"/>
          <p:cNvSpPr txBox="1"/>
          <p:nvPr/>
        </p:nvSpPr>
        <p:spPr>
          <a:xfrm>
            <a:off x="722376" y="3209544"/>
            <a:ext cx="246888" cy="246888"/>
          </a:xfrm>
          <a:prstGeom prst="rect">
            <a:avLst/>
          </a:prstGeom>
          <a:noFill/>
          <a:ln/>
        </p:spPr>
        <p:txBody>
          <a:bodyPr wrap="square" lIns="0" tIns="0" rIns="0" bIns="0" rtlCol="0" anchor="ct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D</a:t>
            </a:r>
            <a:endParaRPr lang="en-US" sz="900" dirty="0"/>
          </a:p>
        </p:txBody>
      </p:sp>
      <p:sp>
        <p:nvSpPr>
          <p:cNvPr id="32" name="Text 30"/>
          <p:cNvSpPr txBox="1"/>
          <p:nvPr/>
        </p:nvSpPr>
        <p:spPr>
          <a:xfrm>
            <a:off x="1078992" y="3127248"/>
            <a:ext cx="2194560" cy="411480"/>
          </a:xfrm>
          <a:prstGeom prst="rect">
            <a:avLst/>
          </a:prstGeom>
          <a:noFill/>
          <a:ln/>
        </p:spPr>
        <p:txBody>
          <a:bodyPr wrap="square" lIns="0" tIns="0" rIns="0" bIns="0" rtlCol="0" anchor="ctr"/>
          <a:lstStyle/>
          <a:p>
            <a:pPr indent="0" marL="0">
              <a:buNone/>
            </a:pPr>
            <a:r>
              <a:rPr lang="en-US" sz="950" dirty="0">
                <a:solidFill>
                  <a:srgbClr val="191919"/>
                </a:solidFill>
                <a:latin typeface="Noto Sans KR" pitchFamily="34" charset="0"/>
                <a:ea typeface="Noto Sans KR" pitchFamily="34" charset="-122"/>
                <a:cs typeface="Noto Sans KR" pitchFamily="34" charset="-120"/>
              </a:rPr>
              <a:t>None of the above</a:t>
            </a:r>
            <a:endParaRPr lang="en-US" sz="950" dirty="0"/>
          </a:p>
        </p:txBody>
      </p:sp>
      <p:sp>
        <p:nvSpPr>
          <p:cNvPr id="33" name="Shape 31"/>
          <p:cNvSpPr/>
          <p:nvPr/>
        </p:nvSpPr>
        <p:spPr>
          <a:xfrm>
            <a:off x="3346704" y="3227832"/>
            <a:ext cx="914400" cy="210312"/>
          </a:xfrm>
          <a:prstGeom prst="roundRect">
            <a:avLst>
              <a:gd name="adj" fmla="val 21739"/>
            </a:avLst>
          </a:prstGeom>
          <a:solidFill>
            <a:srgbClr val="E5E7EB"/>
          </a:solidFill>
          <a:ln w="12700">
            <a:solidFill>
              <a:srgbClr val="E5E7EB"/>
            </a:solidFill>
            <a:prstDash val="solid"/>
          </a:ln>
        </p:spPr>
      </p:sp>
      <p:sp>
        <p:nvSpPr>
          <p:cNvPr id="34" name="Text 32"/>
          <p:cNvSpPr txBox="1"/>
          <p:nvPr/>
        </p:nvSpPr>
        <p:spPr>
          <a:xfrm>
            <a:off x="3346704" y="3227832"/>
            <a:ext cx="914400" cy="210312"/>
          </a:xfrm>
          <a:prstGeom prst="rect">
            <a:avLst/>
          </a:prstGeom>
          <a:noFill/>
          <a:ln/>
        </p:spPr>
        <p:txBody>
          <a:bodyPr wrap="square" lIns="0" tIns="0" rIns="0" bIns="0" rtlCol="0" anchor="ctr"/>
          <a:lstStyle/>
          <a:p>
            <a:pPr algn="ctr" indent="0" marL="0">
              <a:buNone/>
            </a:pPr>
            <a:r>
              <a:rPr lang="en-US" sz="750" b="1" dirty="0">
                <a:solidFill>
                  <a:srgbClr val="4B5563"/>
                </a:solidFill>
                <a:latin typeface="Noto Sans KR" pitchFamily="34" charset="0"/>
                <a:ea typeface="Noto Sans KR" pitchFamily="34" charset="-122"/>
                <a:cs typeface="Noto Sans KR" pitchFamily="34" charset="-120"/>
              </a:rPr>
              <a:t>catch trials</a:t>
            </a:r>
            <a:endParaRPr lang="en-US" sz="750" dirty="0"/>
          </a:p>
        </p:txBody>
      </p:sp>
      <p:sp>
        <p:nvSpPr>
          <p:cNvPr id="35" name="Text 33"/>
          <p:cNvSpPr txBox="1"/>
          <p:nvPr/>
        </p:nvSpPr>
        <p:spPr>
          <a:xfrm>
            <a:off x="621792" y="3694176"/>
            <a:ext cx="3749040" cy="274320"/>
          </a:xfrm>
          <a:prstGeom prst="rect">
            <a:avLst/>
          </a:prstGeom>
          <a:noFill/>
          <a:ln/>
        </p:spPr>
        <p:txBody>
          <a:bodyPr wrap="square" lIns="0" tIns="0" rIns="0" bIns="0" rtlCol="0" anchor="t"/>
          <a:lstStyle/>
          <a:p>
            <a:pPr indent="0" marL="0">
              <a:buNone/>
            </a:pPr>
            <a:r>
              <a:rPr lang="en-US" sz="850" dirty="0">
                <a:solidFill>
                  <a:srgbClr val="8A8A8A"/>
                </a:solidFill>
                <a:latin typeface="Noto Sans KR" pitchFamily="34" charset="0"/>
                <a:ea typeface="Noto Sans KR" pitchFamily="34" charset="-122"/>
                <a:cs typeface="Noto Sans KR" pitchFamily="34" charset="-120"/>
              </a:rPr>
              <a:t>Same name format for every option · four option orders, as in the team test</a:t>
            </a:r>
            <a:endParaRPr lang="en-US" sz="850" dirty="0"/>
          </a:p>
        </p:txBody>
      </p:sp>
      <p:sp>
        <p:nvSpPr>
          <p:cNvPr id="36" name="Team test"/>
          <p:cNvSpPr/>
          <p:nvPr/>
        </p:nvSpPr>
        <p:spPr>
          <a:xfrm>
            <a:off x="4709160" y="1042416"/>
            <a:ext cx="4023360" cy="1481328"/>
          </a:xfrm>
          <a:prstGeom prst="roundRect">
            <a:avLst>
              <a:gd name="adj" fmla="val 3086"/>
            </a:avLst>
          </a:prstGeom>
          <a:solidFill>
            <a:srgbClr val="F3F4F6"/>
          </a:solidFill>
          <a:ln w="12700">
            <a:solidFill>
              <a:srgbClr val="F3F4F6"/>
            </a:solidFill>
            <a:prstDash val="solid"/>
          </a:ln>
        </p:spPr>
      </p:sp>
      <p:sp>
        <p:nvSpPr>
          <p:cNvPr id="37" name="Text 35"/>
          <p:cNvSpPr txBox="1"/>
          <p:nvPr/>
        </p:nvSpPr>
        <p:spPr>
          <a:xfrm>
            <a:off x="4873752" y="1143000"/>
            <a:ext cx="3657600" cy="237744"/>
          </a:xfrm>
          <a:prstGeom prst="rect">
            <a:avLst/>
          </a:prstGeom>
          <a:noFill/>
          <a:ln/>
        </p:spPr>
        <p:txBody>
          <a:bodyPr wrap="square" lIns="0" tIns="0" rIns="0" bIns="0" rtlCol="0" anchor="t"/>
          <a:lstStyle/>
          <a:p>
            <a:pPr indent="0" marL="0">
              <a:buNone/>
            </a:pPr>
            <a:r>
              <a:rPr lang="en-US" sz="1100" b="1" dirty="0">
                <a:solidFill>
                  <a:srgbClr val="191919"/>
                </a:solidFill>
                <a:latin typeface="Noto Sans KR" pitchFamily="34" charset="0"/>
                <a:ea typeface="Noto Sans KR" pitchFamily="34" charset="-122"/>
                <a:cs typeface="Noto Sans KR" pitchFamily="34" charset="-120"/>
              </a:rPr>
              <a:t>Team test (Step 1)</a:t>
            </a:r>
            <a:endParaRPr lang="en-US" sz="1100" dirty="0"/>
          </a:p>
        </p:txBody>
      </p:sp>
      <p:sp>
        <p:nvSpPr>
          <p:cNvPr id="38" name="Text 36"/>
          <p:cNvSpPr txBox="1"/>
          <p:nvPr/>
        </p:nvSpPr>
        <p:spPr>
          <a:xfrm>
            <a:off x="4873752" y="1426464"/>
            <a:ext cx="3703320" cy="1005840"/>
          </a:xfrm>
          <a:prstGeom prst="rect">
            <a:avLst/>
          </a:prstGeom>
          <a:noFill/>
          <a:ln/>
        </p:spPr>
        <p:txBody>
          <a:bodyPr wrap="square" lIns="0" tIns="0" rIns="0" bIns="0" rtlCol="0" anchor="t"/>
          <a:lstStyle/>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True list vs. 3 real teams of other papers, 4 option orders</a:t>
            </a:r>
            <a:endParaRPr lang="en-US" sz="950" dirty="0"/>
          </a:p>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Named in the open question (HR2 ≤ 0.5): recalled; otherwise, orders won out of 4: 3–4 known, 2 notsure, 0–1 unknown</a:t>
            </a:r>
            <a:endParaRPr lang="en-US" sz="950" dirty="0"/>
          </a:p>
        </p:txBody>
      </p:sp>
      <p:sp>
        <p:nvSpPr>
          <p:cNvPr id="39" name="Harder test"/>
          <p:cNvSpPr/>
          <p:nvPr/>
        </p:nvSpPr>
        <p:spPr>
          <a:xfrm>
            <a:off x="4709160" y="2615184"/>
            <a:ext cx="4023360" cy="1481328"/>
          </a:xfrm>
          <a:prstGeom prst="roundRect">
            <a:avLst>
              <a:gd name="adj" fmla="val 3086"/>
            </a:avLst>
          </a:prstGeom>
          <a:solidFill>
            <a:srgbClr val="FFF1ED"/>
          </a:solidFill>
          <a:ln w="12700">
            <a:solidFill>
              <a:srgbClr val="FFF1ED"/>
            </a:solidFill>
            <a:prstDash val="solid"/>
          </a:ln>
        </p:spPr>
      </p:sp>
      <p:sp>
        <p:nvSpPr>
          <p:cNvPr id="40" name="Text 38"/>
          <p:cNvSpPr txBox="1"/>
          <p:nvPr/>
        </p:nvSpPr>
        <p:spPr>
          <a:xfrm>
            <a:off x="4873752" y="2715768"/>
            <a:ext cx="3657600" cy="237744"/>
          </a:xfrm>
          <a:prstGeom prst="rect">
            <a:avLst/>
          </a:prstGeom>
          <a:noFill/>
          <a:ln/>
        </p:spPr>
        <p:txBody>
          <a:bodyPr wrap="square" lIns="0" tIns="0" rIns="0" bIns="0" rtlCol="0" anchor="t"/>
          <a:lstStyle/>
          <a:p>
            <a:pPr indent="0" marL="0">
              <a:buNone/>
            </a:pPr>
            <a:r>
              <a:rPr lang="en-US" sz="1100" b="1" dirty="0">
                <a:solidFill>
                  <a:srgbClr val="E2614A"/>
                </a:solidFill>
                <a:latin typeface="Noto Sans KR" pitchFamily="34" charset="0"/>
                <a:ea typeface="Noto Sans KR" pitchFamily="34" charset="-122"/>
                <a:cs typeface="Noto Sans KR" pitchFamily="34" charset="-120"/>
              </a:rPr>
              <a:t>Harder test (this track)</a:t>
            </a:r>
            <a:endParaRPr lang="en-US" sz="1100" dirty="0"/>
          </a:p>
        </p:txBody>
      </p:sp>
      <p:sp>
        <p:nvSpPr>
          <p:cNvPr id="41" name="Text 39"/>
          <p:cNvSpPr txBox="1"/>
          <p:nvPr/>
        </p:nvSpPr>
        <p:spPr>
          <a:xfrm>
            <a:off x="4873752" y="2999232"/>
            <a:ext cx="3703320" cy="1005840"/>
          </a:xfrm>
          <a:prstGeom prst="rect">
            <a:avLst/>
          </a:prstGeom>
          <a:noFill/>
          <a:ln/>
        </p:spPr>
        <p:txBody>
          <a:bodyPr wrap="square" lIns="0" tIns="0" rIns="0" bIns="0" rtlCol="0" anchor="t"/>
          <a:lstStyle/>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Wrong options are lists the model itself produced: same field, same name style</a:t>
            </a:r>
            <a:endParaRPr lang="en-US" sz="950" dirty="0"/>
          </a:p>
          <a:p>
            <a:pPr marL="114300" indent="-114300">
              <a:spcAft>
                <a:spcPts val="400"/>
              </a:spcAft>
              <a:buSzPct val="100000"/>
              <a:buChar char="•"/>
            </a:pPr>
            <a:r>
              <a:rPr lang="en-US" sz="950" dirty="0">
                <a:solidFill>
                  <a:srgbClr val="333333"/>
                </a:solidFill>
                <a:latin typeface="Noto Sans KR" pitchFamily="34" charset="0"/>
                <a:ea typeface="Noto Sans KR" pitchFamily="34" charset="-122"/>
                <a:cs typeface="Noto Sans KR" pitchFamily="34" charset="-120"/>
              </a:rPr>
              <a:t>Controls: title hidden, title swapped, catch trials with no correct option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Noto Sans KR" pitchFamily="34" charset="0"/>
                <a:ea typeface="Noto Sans KR" pitchFamily="34" charset="-122"/>
                <a:cs typeface="Noto Sans KR" pitchFamily="34" charset="-120"/>
              </a:rPr>
              <a:t>03</a:t>
            </a:r>
            <a:pPr indent="0" marL="0">
              <a:buNone/>
            </a:pPr>
            <a:r>
              <a:rPr lang="en-US" sz="900" dirty="0">
                <a:solidFill>
                  <a:srgbClr val="8A8A8A"/>
                </a:solidFill>
                <a:latin typeface="Noto Sans KR" pitchFamily="34" charset="0"/>
                <a:ea typeface="Noto Sans KR" pitchFamily="34" charset="-122"/>
                <a:cs typeface="Noto Sans KR" pitchFamily="34" charset="-120"/>
              </a:rPr>
              <a:t>  Failure split</a:t>
            </a:r>
            <a:endParaRPr lang="en-US" sz="900" dirty="0"/>
          </a:p>
        </p:txBody>
      </p:sp>
      <p:sp>
        <p:nvSpPr>
          <p:cNvPr id="3" name="Presenter pill"/>
          <p:cNvSpPr/>
          <p:nvPr/>
        </p:nvSpPr>
        <p:spPr>
          <a:xfrm>
            <a:off x="7059168" y="201168"/>
            <a:ext cx="1673352" cy="283464"/>
          </a:xfrm>
          <a:prstGeom prst="roundRect">
            <a:avLst>
              <a:gd name="adj" fmla="val 16129"/>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Noto Sans KR" pitchFamily="34" charset="0"/>
                <a:ea typeface="Noto Sans KR" pitchFamily="34" charset="-122"/>
                <a:cs typeface="Noto Sans KR" pitchFamily="34" charset="-120"/>
              </a:rPr>
              <a:t>Presenter  </a:t>
            </a:r>
            <a:pPr algn="ctr" indent="0" marL="0">
              <a:buNone/>
            </a:pPr>
            <a:r>
              <a:rPr lang="en-US" sz="800" b="1" dirty="0">
                <a:solidFill>
                  <a:srgbClr val="3442C8"/>
                </a:solidFill>
                <a:latin typeface="Noto Sans KR" pitchFamily="34" charset="0"/>
                <a:ea typeface="Noto Sans KR" pitchFamily="34" charset="-122"/>
                <a:cs typeface="Noto Sans KR"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Noto Sans KR" pitchFamily="34" charset="0"/>
                <a:ea typeface="Noto Sans KR" pitchFamily="34" charset="-122"/>
                <a:cs typeface="Noto Sans KR" pitchFamily="34" charset="-120"/>
              </a:rPr>
              <a:t>Which Known Papers Can Sampling Reach?</a:t>
            </a:r>
            <a:endParaRPr lang="en-US" sz="2200" dirty="0"/>
          </a:p>
        </p:txBody>
      </p:sp>
      <p:sp>
        <p:nvSpPr>
          <p:cNvPr id="6" name="Key message"/>
          <p:cNvSpPr/>
          <p:nvPr/>
        </p:nvSpPr>
        <p:spPr>
          <a:xfrm>
            <a:off x="457200" y="4261104"/>
            <a:ext cx="8275320" cy="365760"/>
          </a:xfrm>
          <a:prstGeom prst="roundRect">
            <a:avLst>
              <a:gd name="adj" fmla="val 125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Noto Sans KR" pitchFamily="34" charset="0"/>
                <a:ea typeface="Noto Sans KR" pitchFamily="34" charset="-122"/>
                <a:cs typeface="Noto Sans KR" pitchFamily="34" charset="-120"/>
              </a:rPr>
              <a:t>Same papers, same unit: steering and selection become directly comparable.</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Noto Sans KR" pitchFamily="34" charset="0"/>
                <a:ea typeface="Noto Sans KR" pitchFamily="34" charset="-122"/>
                <a:cs typeface="Noto Sans KR" pitchFamily="34" charset="-120"/>
              </a:rPr>
              <a:t>03</a:t>
            </a:r>
            <a:endParaRPr lang="en-US" sz="700" dirty="0"/>
          </a:p>
        </p:txBody>
      </p:sp>
      <p:sp>
        <p:nvSpPr>
          <p:cNvPr id="9" name="Text 7"/>
          <p:cNvSpPr txBox="1"/>
          <p:nvPr/>
        </p:nvSpPr>
        <p:spPr>
          <a:xfrm>
            <a:off x="1572768" y="1042416"/>
            <a:ext cx="1892808" cy="274320"/>
          </a:xfrm>
          <a:prstGeom prst="rect">
            <a:avLst/>
          </a:prstGeom>
          <a:noFill/>
          <a:ln/>
        </p:spPr>
        <p:txBody>
          <a:bodyPr wrap="square" lIns="0" tIns="0" rIns="0" bIns="0" rtlCol="0" anchor="ctr"/>
          <a:lstStyle/>
          <a:p>
            <a:pPr algn="ctr" indent="0" marL="0">
              <a:buNone/>
            </a:pPr>
            <a:r>
              <a:rPr lang="en-US" sz="950" b="1" dirty="0">
                <a:solidFill>
                  <a:srgbClr val="191919"/>
                </a:solidFill>
                <a:latin typeface="Noto Sans KR" pitchFamily="34" charset="0"/>
                <a:ea typeface="Noto Sans KR" pitchFamily="34" charset="-122"/>
                <a:cs typeface="Noto Sans KR" pitchFamily="34" charset="-120"/>
              </a:rPr>
              <a:t>True author in samples</a:t>
            </a:r>
            <a:endParaRPr lang="en-US" sz="950" dirty="0"/>
          </a:p>
        </p:txBody>
      </p:sp>
      <p:sp>
        <p:nvSpPr>
          <p:cNvPr id="10" name="Text 8"/>
          <p:cNvSpPr txBox="1"/>
          <p:nvPr/>
        </p:nvSpPr>
        <p:spPr>
          <a:xfrm>
            <a:off x="3557016" y="1042416"/>
            <a:ext cx="1892808" cy="274320"/>
          </a:xfrm>
          <a:prstGeom prst="rect">
            <a:avLst/>
          </a:prstGeom>
          <a:noFill/>
          <a:ln/>
        </p:spPr>
        <p:txBody>
          <a:bodyPr wrap="square" lIns="0" tIns="0" rIns="0" bIns="0" rtlCol="0" anchor="ctr"/>
          <a:lstStyle/>
          <a:p>
            <a:pPr algn="ctr" indent="0" marL="0">
              <a:buNone/>
            </a:pPr>
            <a:r>
              <a:rPr lang="en-US" sz="950" b="1" dirty="0">
                <a:solidFill>
                  <a:srgbClr val="191919"/>
                </a:solidFill>
                <a:latin typeface="Noto Sans KR" pitchFamily="34" charset="0"/>
                <a:ea typeface="Noto Sans KR" pitchFamily="34" charset="-122"/>
                <a:cs typeface="Noto Sans KR" pitchFamily="34" charset="-120"/>
              </a:rPr>
              <a:t>Never in samples</a:t>
            </a:r>
            <a:endParaRPr lang="en-US" sz="950" dirty="0"/>
          </a:p>
        </p:txBody>
      </p:sp>
      <p:sp>
        <p:nvSpPr>
          <p:cNvPr id="11" name="Text 9"/>
          <p:cNvSpPr txBox="1"/>
          <p:nvPr/>
        </p:nvSpPr>
        <p:spPr>
          <a:xfrm>
            <a:off x="457200" y="1389888"/>
            <a:ext cx="1051560" cy="1097280"/>
          </a:xfrm>
          <a:prstGeom prst="rect">
            <a:avLst/>
          </a:prstGeom>
          <a:noFill/>
          <a:ln/>
        </p:spPr>
        <p:txBody>
          <a:bodyPr wrap="square" lIns="0" tIns="0" rIns="0" bIns="0" rtlCol="0" anchor="ctr"/>
          <a:lstStyle/>
          <a:p>
            <a:pPr indent="0" marL="0">
              <a:buNone/>
            </a:pPr>
            <a:r>
              <a:rPr lang="en-US" sz="950" b="1" dirty="0">
                <a:solidFill>
                  <a:srgbClr val="191919"/>
                </a:solidFill>
                <a:latin typeface="Noto Sans KR" pitchFamily="34" charset="0"/>
                <a:ea typeface="Noto Sans KR" pitchFamily="34" charset="-122"/>
                <a:cs typeface="Noto Sans KR" pitchFamily="34" charset="-120"/>
              </a:rPr>
              <a:t>Known</a:t>
            </a:r>
            <a:endParaRPr lang="en-US" sz="950" dirty="0"/>
          </a:p>
          <a:p>
            <a:pPr indent="0" marL="0">
              <a:buNone/>
            </a:pPr>
            <a:r>
              <a:rPr lang="en-US" sz="800" dirty="0">
                <a:solidFill>
                  <a:srgbClr val="8A8A8A"/>
                </a:solidFill>
                <a:latin typeface="Noto Sans KR" pitchFamily="34" charset="0"/>
                <a:ea typeface="Noto Sans KR" pitchFamily="34" charset="-122"/>
                <a:cs typeface="Noto Sans KR" pitchFamily="34" charset="-120"/>
              </a:rPr>
              <a:t>5,680 papers; 566 in tune</a:t>
            </a:r>
            <a:endParaRPr lang="en-US" sz="950" dirty="0"/>
          </a:p>
        </p:txBody>
      </p:sp>
      <p:sp>
        <p:nvSpPr>
          <p:cNvPr id="12" name="Text 10"/>
          <p:cNvSpPr txBox="1"/>
          <p:nvPr/>
        </p:nvSpPr>
        <p:spPr>
          <a:xfrm>
            <a:off x="457200" y="2578608"/>
            <a:ext cx="1051560" cy="1097280"/>
          </a:xfrm>
          <a:prstGeom prst="rect">
            <a:avLst/>
          </a:prstGeom>
          <a:noFill/>
          <a:ln/>
        </p:spPr>
        <p:txBody>
          <a:bodyPr wrap="square" lIns="0" tIns="0" rIns="0" bIns="0" rtlCol="0" anchor="ctr"/>
          <a:lstStyle/>
          <a:p>
            <a:pPr indent="0" marL="0">
              <a:buNone/>
            </a:pPr>
            <a:r>
              <a:rPr lang="en-US" sz="950" b="1" dirty="0">
                <a:solidFill>
                  <a:srgbClr val="191919"/>
                </a:solidFill>
                <a:latin typeface="Noto Sans KR" pitchFamily="34" charset="0"/>
                <a:ea typeface="Noto Sans KR" pitchFamily="34" charset="-122"/>
                <a:cs typeface="Noto Sans KR" pitchFamily="34" charset="-120"/>
              </a:rPr>
              <a:t>Unknown</a:t>
            </a:r>
            <a:endParaRPr lang="en-US" sz="950" dirty="0"/>
          </a:p>
          <a:p>
            <a:pPr indent="0" marL="0">
              <a:buNone/>
            </a:pPr>
            <a:r>
              <a:rPr lang="en-US" sz="800" dirty="0">
                <a:solidFill>
                  <a:srgbClr val="8A8A8A"/>
                </a:solidFill>
                <a:latin typeface="Noto Sans KR" pitchFamily="34" charset="0"/>
                <a:ea typeface="Noto Sans KR" pitchFamily="34" charset="-122"/>
                <a:cs typeface="Noto Sans KR" pitchFamily="34" charset="-120"/>
              </a:rPr>
              <a:t>2,220 papers</a:t>
            </a:r>
            <a:endParaRPr lang="en-US" sz="950" dirty="0"/>
          </a:p>
        </p:txBody>
      </p:sp>
      <p:sp>
        <p:nvSpPr>
          <p:cNvPr id="13" name="Reachable"/>
          <p:cNvSpPr/>
          <p:nvPr/>
        </p:nvSpPr>
        <p:spPr>
          <a:xfrm>
            <a:off x="1572768" y="1389888"/>
            <a:ext cx="1892808" cy="1097280"/>
          </a:xfrm>
          <a:prstGeom prst="roundRect">
            <a:avLst>
              <a:gd name="adj" fmla="val 4167"/>
            </a:avLst>
          </a:prstGeom>
          <a:solidFill>
            <a:srgbClr val="E8F8F2"/>
          </a:solidFill>
          <a:ln w="12700">
            <a:solidFill>
              <a:srgbClr val="E8F8F2"/>
            </a:solidFill>
            <a:prstDash val="solid"/>
          </a:ln>
        </p:spPr>
      </p:sp>
      <p:sp>
        <p:nvSpPr>
          <p:cNvPr id="14" name="Text 12"/>
          <p:cNvSpPr txBox="1"/>
          <p:nvPr/>
        </p:nvSpPr>
        <p:spPr>
          <a:xfrm>
            <a:off x="1700784" y="1536192"/>
            <a:ext cx="1636776" cy="457200"/>
          </a:xfrm>
          <a:prstGeom prst="rect">
            <a:avLst/>
          </a:prstGeom>
          <a:noFill/>
          <a:ln/>
        </p:spPr>
        <p:txBody>
          <a:bodyPr wrap="square" lIns="0" tIns="0" rIns="0" bIns="0" rtlCol="0" anchor="t"/>
          <a:lstStyle/>
          <a:p>
            <a:pPr indent="0" marL="0">
              <a:buNone/>
            </a:pPr>
            <a:r>
              <a:rPr lang="en-US" sz="1100" b="1" dirty="0">
                <a:solidFill>
                  <a:srgbClr val="1F9D74"/>
                </a:solidFill>
                <a:latin typeface="Noto Sans KR" pitchFamily="34" charset="0"/>
                <a:ea typeface="Noto Sans KR" pitchFamily="34" charset="-122"/>
                <a:cs typeface="Noto Sans KR" pitchFamily="34" charset="-120"/>
              </a:rPr>
              <a:t>Reachable</a:t>
            </a:r>
            <a:endParaRPr lang="en-US" sz="1100" dirty="0"/>
          </a:p>
        </p:txBody>
      </p:sp>
      <p:sp>
        <p:nvSpPr>
          <p:cNvPr id="15" name="Text 13"/>
          <p:cNvSpPr txBox="1"/>
          <p:nvPr/>
        </p:nvSpPr>
        <p:spPr>
          <a:xfrm>
            <a:off x="1700784" y="2029968"/>
            <a:ext cx="1636776" cy="365760"/>
          </a:xfrm>
          <a:prstGeom prst="rect">
            <a:avLst/>
          </a:prstGeom>
          <a:noFill/>
          <a:ln/>
        </p:spPr>
        <p:txBody>
          <a:bodyPr wrap="square" lIns="0" tIns="0" rIns="0" bIns="0" rtlCol="0" anchor="t"/>
          <a:lstStyle/>
          <a:p>
            <a:pPr indent="0" marL="0">
              <a:buNone/>
            </a:pPr>
            <a:r>
              <a:rPr lang="en-US" sz="900" dirty="0">
                <a:solidFill>
                  <a:srgbClr val="333333"/>
                </a:solidFill>
                <a:latin typeface="Noto Sans KR" pitchFamily="34" charset="0"/>
                <a:ea typeface="Noto Sans KR" pitchFamily="34" charset="-122"/>
                <a:cs typeface="Noto Sans KR" pitchFamily="34" charset="-120"/>
              </a:rPr>
              <a:t>Selection can fix it</a:t>
            </a:r>
            <a:endParaRPr lang="en-US" sz="900" dirty="0"/>
          </a:p>
        </p:txBody>
      </p:sp>
      <p:sp>
        <p:nvSpPr>
          <p:cNvPr id="16" name="Known but unreachable"/>
          <p:cNvSpPr/>
          <p:nvPr/>
        </p:nvSpPr>
        <p:spPr>
          <a:xfrm>
            <a:off x="3557016" y="1389888"/>
            <a:ext cx="1892808" cy="1097280"/>
          </a:xfrm>
          <a:prstGeom prst="roundRect">
            <a:avLst>
              <a:gd name="adj" fmla="val 4167"/>
            </a:avLst>
          </a:prstGeom>
          <a:solidFill>
            <a:srgbClr val="EEF0FF"/>
          </a:solidFill>
          <a:ln w="12700">
            <a:solidFill>
              <a:srgbClr val="EEF0FF"/>
            </a:solidFill>
            <a:prstDash val="solid"/>
          </a:ln>
        </p:spPr>
      </p:sp>
      <p:sp>
        <p:nvSpPr>
          <p:cNvPr id="17" name="Text 15"/>
          <p:cNvSpPr txBox="1"/>
          <p:nvPr/>
        </p:nvSpPr>
        <p:spPr>
          <a:xfrm>
            <a:off x="3685032" y="1536192"/>
            <a:ext cx="1636776" cy="457200"/>
          </a:xfrm>
          <a:prstGeom prst="rect">
            <a:avLst/>
          </a:prstGeom>
          <a:noFill/>
          <a:ln/>
        </p:spPr>
        <p:txBody>
          <a:bodyPr wrap="square" lIns="0" tIns="0" rIns="0" bIns="0" rtlCol="0" anchor="t"/>
          <a:lstStyle/>
          <a:p>
            <a:pPr indent="0" marL="0">
              <a:buNone/>
            </a:pPr>
            <a:r>
              <a:rPr lang="en-US" sz="1100" b="1" dirty="0">
                <a:solidFill>
                  <a:srgbClr val="3442C8"/>
                </a:solidFill>
                <a:latin typeface="Noto Sans KR" pitchFamily="34" charset="0"/>
                <a:ea typeface="Noto Sans KR" pitchFamily="34" charset="-122"/>
                <a:cs typeface="Noto Sans KR" pitchFamily="34" charset="-120"/>
              </a:rPr>
              <a:t>Known but unreachable</a:t>
            </a:r>
            <a:endParaRPr lang="en-US" sz="1100" dirty="0"/>
          </a:p>
        </p:txBody>
      </p:sp>
      <p:sp>
        <p:nvSpPr>
          <p:cNvPr id="18" name="Text 16"/>
          <p:cNvSpPr txBox="1"/>
          <p:nvPr/>
        </p:nvSpPr>
        <p:spPr>
          <a:xfrm>
            <a:off x="3685032" y="2029968"/>
            <a:ext cx="1636776" cy="365760"/>
          </a:xfrm>
          <a:prstGeom prst="rect">
            <a:avLst/>
          </a:prstGeom>
          <a:noFill/>
          <a:ln/>
        </p:spPr>
        <p:txBody>
          <a:bodyPr wrap="square" lIns="0" tIns="0" rIns="0" bIns="0" rtlCol="0" anchor="t"/>
          <a:lstStyle/>
          <a:p>
            <a:pPr indent="0" marL="0">
              <a:buNone/>
            </a:pPr>
            <a:r>
              <a:rPr lang="en-US" sz="900" dirty="0">
                <a:solidFill>
                  <a:srgbClr val="333333"/>
                </a:solidFill>
                <a:latin typeface="Noto Sans KR" pitchFamily="34" charset="0"/>
                <a:ea typeface="Noto Sans KR" pitchFamily="34" charset="-122"/>
                <a:cs typeface="Noto Sans KR" pitchFamily="34" charset="-120"/>
              </a:rPr>
              <a:t>Target for steering and J-Lens</a:t>
            </a:r>
            <a:endParaRPr lang="en-US" sz="900" dirty="0"/>
          </a:p>
        </p:txBody>
      </p:sp>
      <p:sp>
        <p:nvSpPr>
          <p:cNvPr id="19" name="Rare case"/>
          <p:cNvSpPr/>
          <p:nvPr/>
        </p:nvSpPr>
        <p:spPr>
          <a:xfrm>
            <a:off x="1572768" y="2578608"/>
            <a:ext cx="1892808" cy="1097280"/>
          </a:xfrm>
          <a:prstGeom prst="roundRect">
            <a:avLst>
              <a:gd name="adj" fmla="val 4167"/>
            </a:avLst>
          </a:prstGeom>
          <a:solidFill>
            <a:srgbClr val="F3F4F6"/>
          </a:solidFill>
          <a:ln w="12700">
            <a:solidFill>
              <a:srgbClr val="F3F4F6"/>
            </a:solidFill>
            <a:prstDash val="solid"/>
          </a:ln>
        </p:spPr>
      </p:sp>
      <p:sp>
        <p:nvSpPr>
          <p:cNvPr id="20" name="Text 18"/>
          <p:cNvSpPr txBox="1"/>
          <p:nvPr/>
        </p:nvSpPr>
        <p:spPr>
          <a:xfrm>
            <a:off x="1700784" y="2724912"/>
            <a:ext cx="1636776" cy="457200"/>
          </a:xfrm>
          <a:prstGeom prst="rect">
            <a:avLst/>
          </a:prstGeom>
          <a:noFill/>
          <a:ln/>
        </p:spPr>
        <p:txBody>
          <a:bodyPr wrap="square" lIns="0" tIns="0" rIns="0" bIns="0" rtlCol="0" anchor="t"/>
          <a:lstStyle/>
          <a:p>
            <a:pPr indent="0" marL="0">
              <a:buNone/>
            </a:pPr>
            <a:r>
              <a:rPr lang="en-US" sz="1100" b="1" dirty="0">
                <a:solidFill>
                  <a:srgbClr val="4B5563"/>
                </a:solidFill>
                <a:latin typeface="Noto Sans KR" pitchFamily="34" charset="0"/>
                <a:ea typeface="Noto Sans KR" pitchFamily="34" charset="-122"/>
                <a:cs typeface="Noto Sans KR" pitchFamily="34" charset="-120"/>
              </a:rPr>
              <a:t>Rare case</a:t>
            </a:r>
            <a:endParaRPr lang="en-US" sz="1100" dirty="0"/>
          </a:p>
        </p:txBody>
      </p:sp>
      <p:sp>
        <p:nvSpPr>
          <p:cNvPr id="21" name="Text 19"/>
          <p:cNvSpPr txBox="1"/>
          <p:nvPr/>
        </p:nvSpPr>
        <p:spPr>
          <a:xfrm>
            <a:off x="1700784" y="3218688"/>
            <a:ext cx="1636776" cy="365760"/>
          </a:xfrm>
          <a:prstGeom prst="rect">
            <a:avLst/>
          </a:prstGeom>
          <a:noFill/>
          <a:ln/>
        </p:spPr>
        <p:txBody>
          <a:bodyPr wrap="square" lIns="0" tIns="0" rIns="0" bIns="0" rtlCol="0" anchor="t"/>
          <a:lstStyle/>
          <a:p>
            <a:pPr indent="0" marL="0">
              <a:buNone/>
            </a:pPr>
            <a:r>
              <a:rPr lang="en-US" sz="900" dirty="0">
                <a:solidFill>
                  <a:srgbClr val="333333"/>
                </a:solidFill>
                <a:latin typeface="Noto Sans KR" pitchFamily="34" charset="0"/>
                <a:ea typeface="Noto Sans KR" pitchFamily="34" charset="-122"/>
                <a:cs typeface="Noto Sans KR" pitchFamily="34" charset="-120"/>
              </a:rPr>
              <a:t>Check for chance matches</a:t>
            </a:r>
            <a:endParaRPr lang="en-US" sz="900" dirty="0"/>
          </a:p>
        </p:txBody>
      </p:sp>
      <p:sp>
        <p:nvSpPr>
          <p:cNvPr id="22" name="Not stored"/>
          <p:cNvSpPr/>
          <p:nvPr/>
        </p:nvSpPr>
        <p:spPr>
          <a:xfrm>
            <a:off x="3557016" y="2578608"/>
            <a:ext cx="1892808" cy="1097280"/>
          </a:xfrm>
          <a:prstGeom prst="roundRect">
            <a:avLst>
              <a:gd name="adj" fmla="val 4167"/>
            </a:avLst>
          </a:prstGeom>
          <a:solidFill>
            <a:srgbClr val="F3F4F6"/>
          </a:solidFill>
          <a:ln w="12700">
            <a:solidFill>
              <a:srgbClr val="F3F4F6"/>
            </a:solidFill>
            <a:prstDash val="solid"/>
          </a:ln>
        </p:spPr>
      </p:sp>
      <p:sp>
        <p:nvSpPr>
          <p:cNvPr id="23" name="Text 21"/>
          <p:cNvSpPr txBox="1"/>
          <p:nvPr/>
        </p:nvSpPr>
        <p:spPr>
          <a:xfrm>
            <a:off x="3685032" y="2724912"/>
            <a:ext cx="1636776" cy="457200"/>
          </a:xfrm>
          <a:prstGeom prst="rect">
            <a:avLst/>
          </a:prstGeom>
          <a:noFill/>
          <a:ln/>
        </p:spPr>
        <p:txBody>
          <a:bodyPr wrap="square" lIns="0" tIns="0" rIns="0" bIns="0" rtlCol="0" anchor="t"/>
          <a:lstStyle/>
          <a:p>
            <a:pPr indent="0" marL="0">
              <a:buNone/>
            </a:pPr>
            <a:r>
              <a:rPr lang="en-US" sz="1100" b="1" dirty="0">
                <a:solidFill>
                  <a:srgbClr val="4B5563"/>
                </a:solidFill>
                <a:latin typeface="Noto Sans KR" pitchFamily="34" charset="0"/>
                <a:ea typeface="Noto Sans KR" pitchFamily="34" charset="-122"/>
                <a:cs typeface="Noto Sans KR" pitchFamily="34" charset="-120"/>
              </a:rPr>
              <a:t>Not stored</a:t>
            </a:r>
            <a:endParaRPr lang="en-US" sz="1100" dirty="0"/>
          </a:p>
        </p:txBody>
      </p:sp>
      <p:sp>
        <p:nvSpPr>
          <p:cNvPr id="24" name="Text 22"/>
          <p:cNvSpPr txBox="1"/>
          <p:nvPr/>
        </p:nvSpPr>
        <p:spPr>
          <a:xfrm>
            <a:off x="3685032" y="3218688"/>
            <a:ext cx="1636776" cy="365760"/>
          </a:xfrm>
          <a:prstGeom prst="rect">
            <a:avLst/>
          </a:prstGeom>
          <a:noFill/>
          <a:ln/>
        </p:spPr>
        <p:txBody>
          <a:bodyPr wrap="square" lIns="0" tIns="0" rIns="0" bIns="0" rtlCol="0" anchor="t"/>
          <a:lstStyle/>
          <a:p>
            <a:pPr indent="0" marL="0">
              <a:buNone/>
            </a:pPr>
            <a:r>
              <a:rPr lang="en-US" sz="900" dirty="0">
                <a:solidFill>
                  <a:srgbClr val="333333"/>
                </a:solidFill>
                <a:latin typeface="Noto Sans KR" pitchFamily="34" charset="0"/>
                <a:ea typeface="Noto Sans KR" pitchFamily="34" charset="-122"/>
                <a:cs typeface="Noto Sans KR" pitchFamily="34" charset="-120"/>
              </a:rPr>
              <a:t>Negative control for every method</a:t>
            </a:r>
            <a:endParaRPr lang="en-US" sz="900" dirty="0"/>
          </a:p>
        </p:txBody>
      </p:sp>
      <p:sp>
        <p:nvSpPr>
          <p:cNvPr id="25" name="Text 23"/>
          <p:cNvSpPr txBox="1"/>
          <p:nvPr/>
        </p:nvSpPr>
        <p:spPr>
          <a:xfrm>
            <a:off x="457200" y="3730752"/>
            <a:ext cx="5029200" cy="274320"/>
          </a:xfrm>
          <a:prstGeom prst="rect">
            <a:avLst/>
          </a:prstGeom>
          <a:noFill/>
          <a:ln/>
        </p:spPr>
        <p:txBody>
          <a:bodyPr wrap="square" lIns="0" tIns="0" rIns="0" bIns="0" rtlCol="0" anchor="t"/>
          <a:lstStyle/>
          <a:p>
            <a:pPr indent="0" marL="0">
              <a:buNone/>
            </a:pPr>
            <a:r>
              <a:rPr lang="en-US" sz="800" dirty="0">
                <a:solidFill>
                  <a:srgbClr val="8A8A8A"/>
                </a:solidFill>
                <a:latin typeface="Noto Sans KR" pitchFamily="34" charset="0"/>
                <a:ea typeface="Noto Sans KR" pitchFamily="34" charset="-122"/>
                <a:cs typeface="Noto Sans KR" pitchFamily="34" charset="-120"/>
              </a:rPr>
              <a:t>Recalled papers (214) are already named; notsure papers (994) are reported separately.</a:t>
            </a:r>
            <a:endParaRPr lang="en-US" sz="800" dirty="0"/>
          </a:p>
        </p:txBody>
      </p:sp>
      <p:sp>
        <p:nvSpPr>
          <p:cNvPr id="26" name="Link to steering"/>
          <p:cNvSpPr/>
          <p:nvPr/>
        </p:nvSpPr>
        <p:spPr>
          <a:xfrm>
            <a:off x="5669280" y="1042416"/>
            <a:ext cx="3063240" cy="3054096"/>
          </a:xfrm>
          <a:prstGeom prst="roundRect">
            <a:avLst>
              <a:gd name="adj" fmla="val 1497"/>
            </a:avLst>
          </a:prstGeom>
          <a:solidFill>
            <a:srgbClr val="F3F4F6"/>
          </a:solidFill>
          <a:ln w="12700">
            <a:solidFill>
              <a:srgbClr val="F3F4F6"/>
            </a:solidFill>
            <a:prstDash val="solid"/>
          </a:ln>
        </p:spPr>
      </p:sp>
      <p:sp>
        <p:nvSpPr>
          <p:cNvPr id="27" name="Text 25"/>
          <p:cNvSpPr txBox="1"/>
          <p:nvPr/>
        </p:nvSpPr>
        <p:spPr>
          <a:xfrm>
            <a:off x="5833872" y="1152144"/>
            <a:ext cx="2743200" cy="237744"/>
          </a:xfrm>
          <a:prstGeom prst="rect">
            <a:avLst/>
          </a:prstGeom>
          <a:noFill/>
          <a:ln/>
        </p:spPr>
        <p:txBody>
          <a:bodyPr wrap="square" lIns="0" tIns="0" rIns="0" bIns="0" rtlCol="0" anchor="t"/>
          <a:lstStyle/>
          <a:p>
            <a:pPr indent="0" marL="0">
              <a:buNone/>
            </a:pPr>
            <a:r>
              <a:rPr lang="en-US" sz="1100" b="1" dirty="0">
                <a:solidFill>
                  <a:srgbClr val="191919"/>
                </a:solidFill>
                <a:latin typeface="Noto Sans KR" pitchFamily="34" charset="0"/>
                <a:ea typeface="Noto Sans KR" pitchFamily="34" charset="-122"/>
                <a:cs typeface="Noto Sans KR" pitchFamily="34" charset="-120"/>
              </a:rPr>
              <a:t>Link to the steering results</a:t>
            </a:r>
            <a:endParaRPr lang="en-US" sz="1100" dirty="0"/>
          </a:p>
        </p:txBody>
      </p:sp>
      <p:sp>
        <p:nvSpPr>
          <p:cNvPr id="28" name="Text 26"/>
          <p:cNvSpPr txBox="1"/>
          <p:nvPr/>
        </p:nvSpPr>
        <p:spPr>
          <a:xfrm>
            <a:off x="5833872" y="1463040"/>
            <a:ext cx="2743200" cy="2560320"/>
          </a:xfrm>
          <a:prstGeom prst="rect">
            <a:avLst/>
          </a:prstGeom>
          <a:noFill/>
          <a:ln/>
        </p:spPr>
        <p:txBody>
          <a:bodyPr wrap="square" lIns="0" tIns="0" rIns="0" bIns="0" rtlCol="0" anchor="t"/>
          <a:lstStyle/>
          <a:p>
            <a:pPr indent="0" marL="0">
              <a:spcAft>
                <a:spcPts val="200"/>
              </a:spcAft>
              <a:buNone/>
            </a:pPr>
            <a:r>
              <a:rPr lang="en-US" sz="950" b="1" dirty="0">
                <a:solidFill>
                  <a:srgbClr val="3442C8"/>
                </a:solidFill>
                <a:latin typeface="Noto Sans KR" pitchFamily="34" charset="0"/>
                <a:ea typeface="Noto Sans KR" pitchFamily="34" charset="-122"/>
                <a:cs typeface="Noto Sans KR" pitchFamily="34" charset="-120"/>
              </a:rPr>
              <a:t>Target papers</a:t>
            </a:r>
            <a:endParaRPr lang="en-US" sz="950" dirty="0"/>
          </a:p>
          <a:p>
            <a:pPr indent="0" marL="0">
              <a:spcAft>
                <a:spcPts val="200"/>
              </a:spcAft>
              <a:buNone/>
            </a:pPr>
            <a:r>
              <a:rPr lang="en-US" sz="950" dirty="0">
                <a:solidFill>
                  <a:srgbClr val="333333"/>
                </a:solidFill>
                <a:latin typeface="Noto Sans KR" pitchFamily="34" charset="0"/>
                <a:ea typeface="Noto Sans KR" pitchFamily="34" charset="-122"/>
                <a:cs typeface="Noto Sans KR" pitchFamily="34" charset="-120"/>
              </a:rPr>
              <a:t>The 566 known tune papers, as for steering</a:t>
            </a:r>
            <a:endParaRPr lang="en-US" sz="950" dirty="0"/>
          </a:p>
          <a:p>
            <a:pPr indent="0" marL="0">
              <a:spcAft>
                <a:spcPts val="200"/>
              </a:spcAft>
              <a:buNone/>
            </a:pPr>
            <a:r>
              <a:rPr lang="en-US" sz="400" dirty="0">
                <a:solidFill>
                  <a:srgbClr val="333333"/>
                </a:solidFill>
                <a:latin typeface="Noto Sans KR" pitchFamily="34" charset="0"/>
                <a:ea typeface="Noto Sans KR" pitchFamily="34" charset="-122"/>
                <a:cs typeface="Noto Sans KR" pitchFamily="34" charset="-120"/>
              </a:rPr>
              <a:t> </a:t>
            </a:r>
            <a:endParaRPr lang="en-US" sz="950" dirty="0"/>
          </a:p>
          <a:p>
            <a:pPr indent="0" marL="0">
              <a:spcAft>
                <a:spcPts val="200"/>
              </a:spcAft>
              <a:buNone/>
            </a:pPr>
            <a:r>
              <a:rPr lang="en-US" sz="950" b="1" dirty="0">
                <a:solidFill>
                  <a:srgbClr val="3442C8"/>
                </a:solidFill>
                <a:latin typeface="Noto Sans KR" pitchFamily="34" charset="0"/>
                <a:ea typeface="Noto Sans KR" pitchFamily="34" charset="-122"/>
                <a:cs typeface="Noto Sans KR" pitchFamily="34" charset="-120"/>
              </a:rPr>
              <a:t>Steering so far</a:t>
            </a:r>
            <a:endParaRPr lang="en-US" sz="950" dirty="0"/>
          </a:p>
          <a:p>
            <a:pPr indent="0" marL="0">
              <a:spcAft>
                <a:spcPts val="200"/>
              </a:spcAft>
              <a:buNone/>
            </a:pPr>
            <a:r>
              <a:rPr lang="en-US" sz="950" dirty="0">
                <a:solidFill>
                  <a:srgbClr val="333333"/>
                </a:solidFill>
                <a:latin typeface="Noto Sans KR" pitchFamily="34" charset="0"/>
                <a:ea typeface="Noto Sans KR" pitchFamily="34" charset="-122"/>
                <a:cs typeface="Noto Sans KR" pitchFamily="34" charset="-120"/>
              </a:rPr>
              <a:t>Layer 24: +0.7 to +3.0 true authors per 100 papers over random controls</a:t>
            </a:r>
            <a:endParaRPr lang="en-US" sz="950" dirty="0"/>
          </a:p>
          <a:p>
            <a:pPr indent="0" marL="0">
              <a:spcAft>
                <a:spcPts val="200"/>
              </a:spcAft>
              <a:buNone/>
            </a:pPr>
            <a:r>
              <a:rPr lang="en-US" sz="400" dirty="0">
                <a:solidFill>
                  <a:srgbClr val="333333"/>
                </a:solidFill>
                <a:latin typeface="Noto Sans KR" pitchFamily="34" charset="0"/>
                <a:ea typeface="Noto Sans KR" pitchFamily="34" charset="-122"/>
                <a:cs typeface="Noto Sans KR" pitchFamily="34" charset="-120"/>
              </a:rPr>
              <a:t> </a:t>
            </a:r>
            <a:endParaRPr lang="en-US" sz="950" dirty="0"/>
          </a:p>
          <a:p>
            <a:pPr indent="0" marL="0">
              <a:spcAft>
                <a:spcPts val="200"/>
              </a:spcAft>
              <a:buNone/>
            </a:pPr>
            <a:r>
              <a:rPr lang="en-US" sz="950" b="1" dirty="0">
                <a:solidFill>
                  <a:srgbClr val="3442C8"/>
                </a:solidFill>
                <a:latin typeface="Noto Sans KR" pitchFamily="34" charset="0"/>
                <a:ea typeface="Noto Sans KR" pitchFamily="34" charset="-122"/>
                <a:cs typeface="Noto Sans KR" pitchFamily="34" charset="-120"/>
              </a:rPr>
              <a:t>What the split adds</a:t>
            </a:r>
            <a:endParaRPr lang="en-US" sz="950" dirty="0"/>
          </a:p>
          <a:p>
            <a:pPr indent="0" marL="0">
              <a:spcAft>
                <a:spcPts val="200"/>
              </a:spcAft>
              <a:buNone/>
            </a:pPr>
            <a:r>
              <a:rPr lang="en-US" sz="950" dirty="0">
                <a:solidFill>
                  <a:srgbClr val="333333"/>
                </a:solidFill>
                <a:latin typeface="Noto Sans KR" pitchFamily="34" charset="0"/>
                <a:ea typeface="Noto Sans KR" pitchFamily="34" charset="-122"/>
                <a:cs typeface="Noto Sans KR" pitchFamily="34" charset="-120"/>
              </a:rPr>
              <a:t>Which of these papers sampling can reach, and which only steering could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label"/>
          <p:cNvSpPr txBox="1"/>
          <p:nvPr/>
        </p:nvSpPr>
        <p:spPr>
          <a:xfrm>
            <a:off x="457200" y="237744"/>
            <a:ext cx="3657600" cy="228600"/>
          </a:xfrm>
          <a:prstGeom prst="rect">
            <a:avLst/>
          </a:prstGeom>
          <a:noFill/>
          <a:ln/>
        </p:spPr>
        <p:txBody>
          <a:bodyPr wrap="square" lIns="0" tIns="0" rIns="0" bIns="0" rtlCol="0" anchor="t"/>
          <a:lstStyle/>
          <a:p>
            <a:pPr indent="0" marL="0">
              <a:buNone/>
            </a:pPr>
            <a:r>
              <a:rPr lang="en-US" sz="900" b="1" dirty="0">
                <a:solidFill>
                  <a:srgbClr val="5B6CFF"/>
                </a:solidFill>
                <a:latin typeface="Noto Sans KR" pitchFamily="34" charset="0"/>
                <a:ea typeface="Noto Sans KR" pitchFamily="34" charset="-122"/>
                <a:cs typeface="Noto Sans KR" pitchFamily="34" charset="-120"/>
              </a:rPr>
              <a:t>04</a:t>
            </a:r>
            <a:pPr indent="0" marL="0">
              <a:buNone/>
            </a:pPr>
            <a:r>
              <a:rPr lang="en-US" sz="900" dirty="0">
                <a:solidFill>
                  <a:srgbClr val="8A8A8A"/>
                </a:solidFill>
                <a:latin typeface="Noto Sans KR" pitchFamily="34" charset="0"/>
                <a:ea typeface="Noto Sans KR" pitchFamily="34" charset="-122"/>
                <a:cs typeface="Noto Sans KR" pitchFamily="34" charset="-120"/>
              </a:rPr>
              <a:t>  Next steps</a:t>
            </a:r>
            <a:endParaRPr lang="en-US" sz="900" dirty="0"/>
          </a:p>
        </p:txBody>
      </p:sp>
      <p:sp>
        <p:nvSpPr>
          <p:cNvPr id="3" name="Presenter pill"/>
          <p:cNvSpPr/>
          <p:nvPr/>
        </p:nvSpPr>
        <p:spPr>
          <a:xfrm>
            <a:off x="7059168" y="201168"/>
            <a:ext cx="1673352" cy="283464"/>
          </a:xfrm>
          <a:prstGeom prst="roundRect">
            <a:avLst>
              <a:gd name="adj" fmla="val 16129"/>
            </a:avLst>
          </a:prstGeom>
          <a:solidFill>
            <a:srgbClr val="EEF0FF"/>
          </a:solidFill>
          <a:ln w="12700">
            <a:solidFill>
              <a:srgbClr val="EEF0FF"/>
            </a:solidFill>
            <a:prstDash val="solid"/>
          </a:ln>
        </p:spPr>
      </p:sp>
      <p:sp>
        <p:nvSpPr>
          <p:cNvPr id="4" name="Presenter"/>
          <p:cNvSpPr txBox="1"/>
          <p:nvPr/>
        </p:nvSpPr>
        <p:spPr>
          <a:xfrm>
            <a:off x="7059168" y="201168"/>
            <a:ext cx="1673352" cy="283464"/>
          </a:xfrm>
          <a:prstGeom prst="rect">
            <a:avLst/>
          </a:prstGeom>
          <a:noFill/>
          <a:ln/>
        </p:spPr>
        <p:txBody>
          <a:bodyPr wrap="square" lIns="0" tIns="0" rIns="0" bIns="0" rtlCol="0" anchor="ctr"/>
          <a:lstStyle/>
          <a:p>
            <a:pPr algn="ctr" indent="0" marL="0">
              <a:buNone/>
            </a:pPr>
            <a:r>
              <a:rPr lang="en-US" sz="800" dirty="0">
                <a:solidFill>
                  <a:srgbClr val="8A8A8A"/>
                </a:solidFill>
                <a:latin typeface="Noto Sans KR" pitchFamily="34" charset="0"/>
                <a:ea typeface="Noto Sans KR" pitchFamily="34" charset="-122"/>
                <a:cs typeface="Noto Sans KR" pitchFamily="34" charset="-120"/>
              </a:rPr>
              <a:t>Presenter  </a:t>
            </a:r>
            <a:pPr algn="ctr" indent="0" marL="0">
              <a:buNone/>
            </a:pPr>
            <a:r>
              <a:rPr lang="en-US" sz="800" b="1" dirty="0">
                <a:solidFill>
                  <a:srgbClr val="3442C8"/>
                </a:solidFill>
                <a:latin typeface="Noto Sans KR" pitchFamily="34" charset="0"/>
                <a:ea typeface="Noto Sans KR" pitchFamily="34" charset="-122"/>
                <a:cs typeface="Noto Sans KR" pitchFamily="34" charset="-120"/>
              </a:rPr>
              <a:t>Minyan Xu</a:t>
            </a:r>
            <a:endParaRPr lang="en-US" sz="800" dirty="0"/>
          </a:p>
        </p:txBody>
      </p:sp>
      <p:sp>
        <p:nvSpPr>
          <p:cNvPr id="5" name="Title"/>
          <p:cNvSpPr txBox="1"/>
          <p:nvPr/>
        </p:nvSpPr>
        <p:spPr>
          <a:xfrm>
            <a:off x="457200" y="512064"/>
            <a:ext cx="8229600" cy="411480"/>
          </a:xfrm>
          <a:prstGeom prst="rect">
            <a:avLst/>
          </a:prstGeom>
          <a:noFill/>
          <a:ln/>
        </p:spPr>
        <p:txBody>
          <a:bodyPr wrap="square" lIns="0" tIns="0" rIns="0" bIns="0" rtlCol="0" anchor="ctr"/>
          <a:lstStyle/>
          <a:p>
            <a:pPr indent="0" marL="0">
              <a:buNone/>
            </a:pPr>
            <a:r>
              <a:rPr lang="en-US" sz="2200" b="1" dirty="0">
                <a:solidFill>
                  <a:srgbClr val="191919"/>
                </a:solidFill>
                <a:latin typeface="Noto Sans KR" pitchFamily="34" charset="0"/>
                <a:ea typeface="Noto Sans KR" pitchFamily="34" charset="-122"/>
                <a:cs typeface="Noto Sans KR" pitchFamily="34" charset="-120"/>
              </a:rPr>
              <a:t>Next Steps</a:t>
            </a:r>
            <a:endParaRPr lang="en-US" sz="2200" dirty="0"/>
          </a:p>
        </p:txBody>
      </p:sp>
      <p:sp>
        <p:nvSpPr>
          <p:cNvPr id="6" name="Key message"/>
          <p:cNvSpPr/>
          <p:nvPr/>
        </p:nvSpPr>
        <p:spPr>
          <a:xfrm>
            <a:off x="457200" y="4261104"/>
            <a:ext cx="8275320" cy="365760"/>
          </a:xfrm>
          <a:prstGeom prst="roundRect">
            <a:avLst>
              <a:gd name="adj" fmla="val 12500"/>
            </a:avLst>
          </a:prstGeom>
          <a:solidFill>
            <a:srgbClr val="EEF0FF"/>
          </a:solidFill>
          <a:ln w="12700">
            <a:solidFill>
              <a:srgbClr val="EEF0FF"/>
            </a:solidFill>
            <a:prstDash val="solid"/>
          </a:ln>
        </p:spPr>
      </p:sp>
      <p:sp>
        <p:nvSpPr>
          <p:cNvPr id="7" name="Key message text"/>
          <p:cNvSpPr txBox="1"/>
          <p:nvPr/>
        </p:nvSpPr>
        <p:spPr>
          <a:xfrm>
            <a:off x="621792" y="4261104"/>
            <a:ext cx="7955280" cy="365760"/>
          </a:xfrm>
          <a:prstGeom prst="rect">
            <a:avLst/>
          </a:prstGeom>
          <a:noFill/>
          <a:ln/>
        </p:spPr>
        <p:txBody>
          <a:bodyPr wrap="square" lIns="0" tIns="0" rIns="0" bIns="0" rtlCol="0" anchor="ctr"/>
          <a:lstStyle/>
          <a:p>
            <a:pPr indent="0" marL="0">
              <a:buNone/>
            </a:pPr>
            <a:r>
              <a:rPr lang="en-US" sz="950" b="1" dirty="0">
                <a:solidFill>
                  <a:srgbClr val="3442C8"/>
                </a:solidFill>
                <a:latin typeface="Noto Sans KR" pitchFamily="34" charset="0"/>
                <a:ea typeface="Noto Sans KR" pitchFamily="34" charset="-122"/>
                <a:cs typeface="Noto Sans KR" pitchFamily="34" charset="-120"/>
              </a:rPr>
              <a:t>Same rule as steering: settings chosen on the tune split (1,833 papers, 566 known); the test split (3,829) is used once, at the end.</a:t>
            </a:r>
            <a:endParaRPr lang="en-US" sz="950" dirty="0"/>
          </a:p>
        </p:txBody>
      </p:sp>
      <p:sp>
        <p:nvSpPr>
          <p:cNvPr id="8" name="Page number"/>
          <p:cNvSpPr txBox="1"/>
          <p:nvPr/>
        </p:nvSpPr>
        <p:spPr>
          <a:xfrm>
            <a:off x="8275320" y="4800600"/>
            <a:ext cx="457200" cy="201168"/>
          </a:xfrm>
          <a:prstGeom prst="rect">
            <a:avLst/>
          </a:prstGeom>
          <a:noFill/>
          <a:ln/>
        </p:spPr>
        <p:txBody>
          <a:bodyPr wrap="square" lIns="0" tIns="0" rIns="0" bIns="0" rtlCol="0" anchor="t"/>
          <a:lstStyle/>
          <a:p>
            <a:pPr algn="r" indent="0" marL="0">
              <a:buNone/>
            </a:pPr>
            <a:r>
              <a:rPr lang="en-US" sz="700" dirty="0">
                <a:solidFill>
                  <a:srgbClr val="8A8A8A"/>
                </a:solidFill>
                <a:latin typeface="Noto Sans KR" pitchFamily="34" charset="0"/>
                <a:ea typeface="Noto Sans KR" pitchFamily="34" charset="-122"/>
                <a:cs typeface="Noto Sans KR" pitchFamily="34" charset="-120"/>
              </a:rPr>
              <a:t>04</a:t>
            </a:r>
            <a:endParaRPr lang="en-US" sz="700" dirty="0"/>
          </a:p>
        </p:txBody>
      </p:sp>
      <p:sp>
        <p:nvSpPr>
          <p:cNvPr id="9" name="NOW"/>
          <p:cNvSpPr/>
          <p:nvPr/>
        </p:nvSpPr>
        <p:spPr>
          <a:xfrm>
            <a:off x="457200" y="1042416"/>
            <a:ext cx="2606040" cy="2514600"/>
          </a:xfrm>
          <a:prstGeom prst="roundRect">
            <a:avLst>
              <a:gd name="adj" fmla="val 1818"/>
            </a:avLst>
          </a:prstGeom>
          <a:solidFill>
            <a:srgbClr val="EEF0FF"/>
          </a:solidFill>
          <a:ln w="12700">
            <a:solidFill>
              <a:srgbClr val="EEF0FF"/>
            </a:solidFill>
            <a:prstDash val="solid"/>
          </a:ln>
        </p:spPr>
      </p:sp>
      <p:sp>
        <p:nvSpPr>
          <p:cNvPr id="10" name="Shape 8"/>
          <p:cNvSpPr/>
          <p:nvPr/>
        </p:nvSpPr>
        <p:spPr>
          <a:xfrm>
            <a:off x="621792" y="1188720"/>
            <a:ext cx="1737360" cy="246888"/>
          </a:xfrm>
          <a:prstGeom prst="roundRect">
            <a:avLst>
              <a:gd name="adj" fmla="val 18519"/>
            </a:avLst>
          </a:prstGeom>
          <a:solidFill>
            <a:srgbClr val="5B6CFF"/>
          </a:solidFill>
          <a:ln w="12700">
            <a:solidFill>
              <a:srgbClr val="5B6CFF"/>
            </a:solidFill>
            <a:prstDash val="solid"/>
          </a:ln>
        </p:spPr>
      </p:sp>
      <p:sp>
        <p:nvSpPr>
          <p:cNvPr id="11" name="Text 9"/>
          <p:cNvSpPr txBox="1"/>
          <p:nvPr/>
        </p:nvSpPr>
        <p:spPr>
          <a:xfrm>
            <a:off x="621792" y="1188720"/>
            <a:ext cx="173736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Noto Sans KR" pitchFamily="34" charset="0"/>
                <a:ea typeface="Noto Sans KR" pitchFamily="34" charset="-122"/>
                <a:cs typeface="Noto Sans KR" pitchFamily="34" charset="-120"/>
              </a:rPr>
              <a:t>NOW</a:t>
            </a:r>
            <a:endParaRPr lang="en-US" sz="800" dirty="0"/>
          </a:p>
        </p:txBody>
      </p:sp>
      <p:sp>
        <p:nvSpPr>
          <p:cNvPr id="12" name="Text 10"/>
          <p:cNvSpPr txBox="1"/>
          <p:nvPr/>
        </p:nvSpPr>
        <p:spPr>
          <a:xfrm>
            <a:off x="621792" y="1600200"/>
            <a:ext cx="2286000" cy="2377440"/>
          </a:xfrm>
          <a:prstGeom prst="rect">
            <a:avLst/>
          </a:prstGeom>
          <a:noFill/>
          <a:ln/>
        </p:spPr>
        <p:txBody>
          <a:bodyPr wrap="square" lIns="0" tIns="0" rIns="0" bIns="0" rtlCol="0" anchor="t"/>
          <a:lstStyle/>
          <a:p>
            <a:pPr marL="114300" indent="-114300">
              <a:spcAft>
                <a:spcPts val="600"/>
              </a:spcAft>
              <a:buSzPct val="100000"/>
              <a:buChar char="•"/>
            </a:pPr>
            <a:r>
              <a:rPr lang="en-US" sz="1000" dirty="0">
                <a:solidFill>
                  <a:srgbClr val="333333"/>
                </a:solidFill>
                <a:latin typeface="Noto Sans KR" pitchFamily="34" charset="0"/>
                <a:ea typeface="Noto Sans KR" pitchFamily="34" charset="-122"/>
                <a:cs typeface="Noto Sans KR" pitchFamily="34" charset="-120"/>
              </a:rPr>
              <a:t>Sampling run on all 9,108 papers</a:t>
            </a:r>
            <a:endParaRPr lang="en-US" sz="1000" dirty="0"/>
          </a:p>
          <a:p>
            <a:pPr marL="114300" indent="-114300">
              <a:spcAft>
                <a:spcPts val="600"/>
              </a:spcAft>
              <a:buSzPct val="100000"/>
              <a:buChar char="•"/>
            </a:pPr>
            <a:r>
              <a:rPr lang="en-US" sz="1000" dirty="0">
                <a:solidFill>
                  <a:srgbClr val="333333"/>
                </a:solidFill>
                <a:latin typeface="Noto Sans KR" pitchFamily="34" charset="0"/>
                <a:ea typeface="Noto Sans KR" pitchFamily="34" charset="-122"/>
                <a:cs typeface="Noto Sans KR" pitchFamily="34" charset="-120"/>
              </a:rPr>
              <a:t>Harder test with the model’s own wrong lists</a:t>
            </a:r>
            <a:endParaRPr lang="en-US" sz="1000" dirty="0"/>
          </a:p>
        </p:txBody>
      </p:sp>
      <p:sp>
        <p:nvSpPr>
          <p:cNvPr id="13" name="Shape 11"/>
          <p:cNvSpPr/>
          <p:nvPr/>
        </p:nvSpPr>
        <p:spPr>
          <a:xfrm>
            <a:off x="3081528" y="2286000"/>
            <a:ext cx="164592" cy="0"/>
          </a:xfrm>
          <a:prstGeom prst="line">
            <a:avLst/>
          </a:prstGeom>
          <a:noFill/>
          <a:ln w="15875">
            <a:solidFill>
              <a:srgbClr val="A1A1A1"/>
            </a:solidFill>
            <a:prstDash val="solid"/>
            <a:tailEnd type="triangle"/>
          </a:ln>
        </p:spPr>
      </p:sp>
      <p:sp>
        <p:nvSpPr>
          <p:cNvPr id="14" name="NEXT"/>
          <p:cNvSpPr/>
          <p:nvPr/>
        </p:nvSpPr>
        <p:spPr>
          <a:xfrm>
            <a:off x="3273552" y="1042416"/>
            <a:ext cx="2606040" cy="2514600"/>
          </a:xfrm>
          <a:prstGeom prst="roundRect">
            <a:avLst>
              <a:gd name="adj" fmla="val 1818"/>
            </a:avLst>
          </a:prstGeom>
          <a:solidFill>
            <a:srgbClr val="F3F4F6"/>
          </a:solidFill>
          <a:ln w="12700">
            <a:solidFill>
              <a:srgbClr val="F3F4F6"/>
            </a:solidFill>
            <a:prstDash val="solid"/>
          </a:ln>
        </p:spPr>
      </p:sp>
      <p:sp>
        <p:nvSpPr>
          <p:cNvPr id="15" name="Shape 13"/>
          <p:cNvSpPr/>
          <p:nvPr/>
        </p:nvSpPr>
        <p:spPr>
          <a:xfrm>
            <a:off x="3438144" y="1188720"/>
            <a:ext cx="1737360" cy="246888"/>
          </a:xfrm>
          <a:prstGeom prst="roundRect">
            <a:avLst>
              <a:gd name="adj" fmla="val 18519"/>
            </a:avLst>
          </a:prstGeom>
          <a:solidFill>
            <a:srgbClr val="4B5563"/>
          </a:solidFill>
          <a:ln w="12700">
            <a:solidFill>
              <a:srgbClr val="4B5563"/>
            </a:solidFill>
            <a:prstDash val="solid"/>
          </a:ln>
        </p:spPr>
      </p:sp>
      <p:sp>
        <p:nvSpPr>
          <p:cNvPr id="16" name="Text 14"/>
          <p:cNvSpPr txBox="1"/>
          <p:nvPr/>
        </p:nvSpPr>
        <p:spPr>
          <a:xfrm>
            <a:off x="3438144" y="1188720"/>
            <a:ext cx="173736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Noto Sans KR" pitchFamily="34" charset="0"/>
                <a:ea typeface="Noto Sans KR" pitchFamily="34" charset="-122"/>
                <a:cs typeface="Noto Sans KR" pitchFamily="34" charset="-120"/>
              </a:rPr>
              <a:t>NEXT</a:t>
            </a:r>
            <a:endParaRPr lang="en-US" sz="800" dirty="0"/>
          </a:p>
        </p:txBody>
      </p:sp>
      <p:sp>
        <p:nvSpPr>
          <p:cNvPr id="17" name="Text 15"/>
          <p:cNvSpPr txBox="1"/>
          <p:nvPr/>
        </p:nvSpPr>
        <p:spPr>
          <a:xfrm>
            <a:off x="3438144" y="1600200"/>
            <a:ext cx="2286000" cy="2377440"/>
          </a:xfrm>
          <a:prstGeom prst="rect">
            <a:avLst/>
          </a:prstGeom>
          <a:noFill/>
          <a:ln/>
        </p:spPr>
        <p:txBody>
          <a:bodyPr wrap="square" lIns="0" tIns="0" rIns="0" bIns="0" rtlCol="0" anchor="t"/>
          <a:lstStyle/>
          <a:p>
            <a:pPr marL="114300" indent="-114300">
              <a:spcAft>
                <a:spcPts val="600"/>
              </a:spcAft>
              <a:buSzPct val="100000"/>
              <a:buChar char="•"/>
            </a:pPr>
            <a:r>
              <a:rPr lang="en-US" sz="1000" dirty="0">
                <a:solidFill>
                  <a:srgbClr val="333333"/>
                </a:solidFill>
                <a:latin typeface="Noto Sans KR" pitchFamily="34" charset="0"/>
                <a:ea typeface="Noto Sans KR" pitchFamily="34" charset="-122"/>
                <a:cs typeface="Noto Sans KR" pitchFamily="34" charset="-120"/>
              </a:rPr>
              <a:t>Selection on candidate pools: majority vote, P(True), multiple choice with “none of the above”</a:t>
            </a:r>
            <a:endParaRPr lang="en-US" sz="1000" dirty="0"/>
          </a:p>
          <a:p>
            <a:pPr marL="114300" indent="-114300">
              <a:spcAft>
                <a:spcPts val="600"/>
              </a:spcAft>
              <a:buSzPct val="100000"/>
              <a:buChar char="•"/>
            </a:pPr>
            <a:r>
              <a:rPr lang="en-US" sz="1000" dirty="0">
                <a:solidFill>
                  <a:srgbClr val="333333"/>
                </a:solidFill>
                <a:latin typeface="Noto Sans KR" pitchFamily="34" charset="0"/>
                <a:ea typeface="Noto Sans KR" pitchFamily="34" charset="-122"/>
                <a:cs typeface="Noto Sans KR" pitchFamily="34" charset="-120"/>
              </a:rPr>
              <a:t>Compare at equal compute with the default answer, CoT and steering at layer 24</a:t>
            </a:r>
            <a:endParaRPr lang="en-US" sz="1000" dirty="0"/>
          </a:p>
        </p:txBody>
      </p:sp>
      <p:sp>
        <p:nvSpPr>
          <p:cNvPr id="18" name="Shape 16"/>
          <p:cNvSpPr/>
          <p:nvPr/>
        </p:nvSpPr>
        <p:spPr>
          <a:xfrm>
            <a:off x="5897880" y="2286000"/>
            <a:ext cx="164592" cy="0"/>
          </a:xfrm>
          <a:prstGeom prst="line">
            <a:avLst/>
          </a:prstGeom>
          <a:noFill/>
          <a:ln w="15875">
            <a:solidFill>
              <a:srgbClr val="A1A1A1"/>
            </a:solidFill>
            <a:prstDash val="solid"/>
            <a:tailEnd type="triangle"/>
          </a:ln>
        </p:spPr>
      </p:sp>
      <p:sp>
        <p:nvSpPr>
          <p:cNvPr id="19" name="BY THE NEXT UPDATE"/>
          <p:cNvSpPr/>
          <p:nvPr/>
        </p:nvSpPr>
        <p:spPr>
          <a:xfrm>
            <a:off x="6089904" y="1042416"/>
            <a:ext cx="2606040" cy="2514600"/>
          </a:xfrm>
          <a:prstGeom prst="roundRect">
            <a:avLst>
              <a:gd name="adj" fmla="val 1818"/>
            </a:avLst>
          </a:prstGeom>
          <a:solidFill>
            <a:srgbClr val="F3F4F6"/>
          </a:solidFill>
          <a:ln w="12700">
            <a:solidFill>
              <a:srgbClr val="F3F4F6"/>
            </a:solidFill>
            <a:prstDash val="solid"/>
          </a:ln>
        </p:spPr>
      </p:sp>
      <p:sp>
        <p:nvSpPr>
          <p:cNvPr id="20" name="Shape 18"/>
          <p:cNvSpPr/>
          <p:nvPr/>
        </p:nvSpPr>
        <p:spPr>
          <a:xfrm>
            <a:off x="6254496" y="1188720"/>
            <a:ext cx="1737360" cy="246888"/>
          </a:xfrm>
          <a:prstGeom prst="roundRect">
            <a:avLst>
              <a:gd name="adj" fmla="val 18519"/>
            </a:avLst>
          </a:prstGeom>
          <a:solidFill>
            <a:srgbClr val="4B5563"/>
          </a:solidFill>
          <a:ln w="12700">
            <a:solidFill>
              <a:srgbClr val="4B5563"/>
            </a:solidFill>
            <a:prstDash val="solid"/>
          </a:ln>
        </p:spPr>
      </p:sp>
      <p:sp>
        <p:nvSpPr>
          <p:cNvPr id="21" name="Text 19"/>
          <p:cNvSpPr txBox="1"/>
          <p:nvPr/>
        </p:nvSpPr>
        <p:spPr>
          <a:xfrm>
            <a:off x="6254496" y="1188720"/>
            <a:ext cx="1737360" cy="246888"/>
          </a:xfrm>
          <a:prstGeom prst="rect">
            <a:avLst/>
          </a:prstGeom>
          <a:noFill/>
          <a:ln/>
        </p:spPr>
        <p:txBody>
          <a:bodyPr wrap="square" lIns="0" tIns="0" rIns="0" bIns="0" rtlCol="0" anchor="ctr"/>
          <a:lstStyle/>
          <a:p>
            <a:pPr algn="ctr" indent="0" marL="0">
              <a:buNone/>
            </a:pPr>
            <a:r>
              <a:rPr lang="en-US" sz="800" b="1" dirty="0">
                <a:solidFill>
                  <a:srgbClr val="FFFFFF"/>
                </a:solidFill>
                <a:latin typeface="Noto Sans KR" pitchFamily="34" charset="0"/>
                <a:ea typeface="Noto Sans KR" pitchFamily="34" charset="-122"/>
                <a:cs typeface="Noto Sans KR" pitchFamily="34" charset="-120"/>
              </a:rPr>
              <a:t>BY THE NEXT UPDATE</a:t>
            </a:r>
            <a:endParaRPr lang="en-US" sz="800" dirty="0"/>
          </a:p>
        </p:txBody>
      </p:sp>
      <p:sp>
        <p:nvSpPr>
          <p:cNvPr id="22" name="Text 20"/>
          <p:cNvSpPr txBox="1"/>
          <p:nvPr/>
        </p:nvSpPr>
        <p:spPr>
          <a:xfrm>
            <a:off x="6254496" y="1600200"/>
            <a:ext cx="2286000" cy="2377440"/>
          </a:xfrm>
          <a:prstGeom prst="rect">
            <a:avLst/>
          </a:prstGeom>
          <a:noFill/>
          <a:ln/>
        </p:spPr>
        <p:txBody>
          <a:bodyPr wrap="square" lIns="0" tIns="0" rIns="0" bIns="0" rtlCol="0" anchor="t"/>
          <a:lstStyle/>
          <a:p>
            <a:pPr marL="114300" indent="-114300">
              <a:spcAft>
                <a:spcPts val="600"/>
              </a:spcAft>
              <a:buSzPct val="100000"/>
              <a:buChar char="•"/>
            </a:pPr>
            <a:r>
              <a:rPr lang="en-US" sz="1000" dirty="0">
                <a:solidFill>
                  <a:srgbClr val="333333"/>
                </a:solidFill>
                <a:latin typeface="Noto Sans KR" pitchFamily="34" charset="0"/>
                <a:ea typeface="Noto Sans KR" pitchFamily="34" charset="-122"/>
                <a:cs typeface="Noto Sans KR" pitchFamily="34" charset="-120"/>
              </a:rPr>
              <a:t>Reachable / unreachable split for every paper</a:t>
            </a:r>
            <a:endParaRPr lang="en-US" sz="1000" dirty="0"/>
          </a:p>
          <a:p>
            <a:pPr marL="114300" indent="-114300">
              <a:spcAft>
                <a:spcPts val="600"/>
              </a:spcAft>
              <a:buSzPct val="100000"/>
              <a:buChar char="•"/>
            </a:pPr>
            <a:r>
              <a:rPr lang="en-US" sz="1000" dirty="0">
                <a:solidFill>
                  <a:srgbClr val="333333"/>
                </a:solidFill>
                <a:latin typeface="Noto Sans KR" pitchFamily="34" charset="0"/>
                <a:ea typeface="Noto Sans KR" pitchFamily="34" charset="-122"/>
                <a:cs typeface="Noto Sans KR" pitchFamily="34" charset="-120"/>
              </a:rPr>
              <a:t>Selection results on the 566 known tune papers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Generate-then-Select: Progress</dc:title>
  <dc:subject>PptxGenJS Presentation</dc:subject>
  <dc:creator>PptxGenJS</dc:creator>
  <cp:lastModifiedBy>PptxGenJS</cp:lastModifiedBy>
  <cp:revision>1</cp:revision>
  <dcterms:created xsi:type="dcterms:W3CDTF">2026-10-19T21:58:54Z</dcterms:created>
  <dcterms:modified xsi:type="dcterms:W3CDTF">2026-10-19T21:58:54Z</dcterms:modified>
</cp:coreProperties>
</file>