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Standard</c:v>
                </c:pt>
              </c:strCache>
            </c:strRef>
          </c:tx>
          <c:spPr>
            <a:solidFill>
              <a:srgbClr val="5B6CFF"/>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Real teams</c:v>
                  </c:pt>
                  <c:pt idx="1">
                    <c:v>Real teams, ±2 years</c:v>
                  </c:pt>
                  <c:pt idx="2">
                    <c:v>Model’s own wrong lists</c:v>
                  </c:pt>
                </c:lvl>
              </c:multiLvlStrCache>
            </c:multiLvlStrRef>
          </c:cat>
          <c:val>
            <c:numRef>
              <c:f>Sheet1!$B$2:$B$4</c:f>
              <c:numCache>
                <c:formatCode>General</c:formatCode>
                <c:ptCount val="3"/>
                <c:pt idx="0">
                  <c:v>70.3</c:v>
                </c:pt>
                <c:pt idx="1">
                  <c:v>66.8</c:v>
                </c:pt>
                <c:pt idx="2">
                  <c:v>41.2</c:v>
                </c:pt>
              </c:numCache>
            </c:numRef>
          </c:val>
        </c:ser>
        <c:ser>
          <c:idx val="1"/>
          <c:order val="1"/>
          <c:tx>
            <c:strRef>
              <c:f>Sheet1!$C$1</c:f>
              <c:strCache>
                <c:ptCount val="1"/>
                <c:pt idx="0">
                  <c:v>Title hidden</c:v>
                </c:pt>
              </c:strCache>
            </c:strRef>
          </c:tx>
          <c:spPr>
            <a:solidFill>
              <a:srgbClr val="E2614A"/>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Real teams</c:v>
                  </c:pt>
                  <c:pt idx="1">
                    <c:v>Real teams, ±2 years</c:v>
                  </c:pt>
                  <c:pt idx="2">
                    <c:v>Model’s own wrong lists</c:v>
                  </c:pt>
                </c:lvl>
              </c:multiLvlStrCache>
            </c:multiLvlStrRef>
          </c:cat>
          <c:val>
            <c:numRef>
              <c:f>Sheet1!$C$2:$C$4</c:f>
              <c:numCache>
                <c:formatCode>General</c:formatCode>
                <c:ptCount val="3"/>
                <c:pt idx="0">
                  <c:v>23.8</c:v>
                </c:pt>
                <c:pt idx="1">
                  <c:v>17.6</c:v>
                </c:pt>
                <c:pt idx="2">
                  <c:v>25.2</c:v>
                </c:pt>
              </c:numCache>
            </c:numRef>
          </c:val>
        </c:ser>
        <c:ser>
          <c:idx val="2"/>
          <c:order val="2"/>
          <c:tx>
            <c:strRef>
              <c:f>Sheet1!$D$1</c:f>
              <c:strCache>
                <c:ptCount val="1"/>
                <c:pt idx="0">
                  <c:v>Title swapped</c:v>
                </c:pt>
              </c:strCache>
            </c:strRef>
          </c:tx>
          <c:spPr>
            <a:solidFill>
              <a:srgbClr val="B8BCC6"/>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cat>
            <c:multiLvlStrRef>
              <c:f>Sheet1!$A$2:$A$4</c:f>
              <c:multiLvlStrCache>
                <c:ptCount val="3"/>
                <c:lvl>
                  <c:pt idx="0">
                    <c:v>Real teams</c:v>
                  </c:pt>
                  <c:pt idx="1">
                    <c:v>Real teams, ±2 years</c:v>
                  </c:pt>
                  <c:pt idx="2">
                    <c:v>Model’s own wrong lists</c:v>
                  </c:pt>
                </c:lvl>
              </c:multiLvlStrCache>
            </c:multiLvlStrRef>
          </c:cat>
          <c:val>
            <c:numRef>
              <c:f>Sheet1!$D$2:$D$4</c:f>
              <c:numCache>
                <c:formatCode>General</c:formatCode>
                <c:ptCount val="3"/>
                <c:pt idx="0">
                  <c:v>15.7</c:v>
                </c:pt>
                <c:pt idx="1">
                  <c:v>15.8</c:v>
                </c:pt>
                <c:pt idx="2">
                  <c:v>15.5</c:v>
                </c:pt>
              </c:numCache>
            </c:numRef>
          </c:val>
        </c:ser>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00" b="0" i="0" u="none" strike="noStrike">
                <a:solidFill>
                  <a:srgbClr val="333333"/>
                </a:solidFill>
                <a:latin typeface="Arial"/>
                <a:ea typeface="Arial"/>
                <a:cs typeface="Arial"/>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700" b="0" i="0" u="none" strike="noStrike">
                <a:solidFill>
                  <a:srgbClr val="8A8A8A"/>
                </a:solidFill>
                <a:latin typeface="Arial"/>
                <a:ea typeface="Arial"/>
                <a:cs typeface="Arial"/>
              </a:defRPr>
            </a:pPr>
            <a:endParaRPr lang="en-US"/>
          </a:p>
        </c:txPr>
        <c:crossAx val="2094734554"/>
        <c:crosses val="autoZero"/>
        <c:crossBetween val="between"/>
        <c:majorUnit val="20"/>
      </c:valAx>
      <c:spPr>
        <a:noFill/>
        <a:ln>
          <a:noFill/>
        </a:ln>
        <a:effectLst/>
      </c:spPr>
    </c:plotArea>
    <c:legend>
      <c:legendPos val="t"/>
      <c:overlay val="0"/>
      <c:txPr>
        <a:bodyPr/>
        <a:lstStyle/>
        <a:p>
          <a:pPr>
            <a:defRPr sz="800">
              <a:solidFill>
                <a:srgbClr val="333333"/>
              </a:solidFill>
              <a:latin typeface="Arial"/>
              <a:ea typeface="Arial"/>
              <a:cs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Named by the default answer</c:v>
                </c:pt>
              </c:strCache>
            </c:strRef>
          </c:tx>
          <c:spPr>
            <a:solidFill>
              <a:srgbClr val="B8BCC6"/>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0"/>
            <c:showCatName val="0"/>
            <c:showSerName val="0"/>
            <c:showPercent val="0"/>
            <c:showBubbleSize val="0"/>
            <c:showLeaderLines val="0"/>
          </c:dLbls>
          <c:cat>
            <c:multiLvlStrRef>
              <c:f>Sheet1!$A$2:$A$14</c:f>
              <c:multiLvlStrCache>
                <c:ptCount val="13"/>
                <c:lvl>
                  <c:pt idx="0">
                    <c:v>0–2</c:v>
                  </c:pt>
                  <c:pt idx="1">
                    <c:v>3–4</c:v>
                  </c:pt>
                  <c:pt idx="2">
                    <c:v>5–8</c:v>
                  </c:pt>
                  <c:pt idx="3">
                    <c:v>9–16</c:v>
                  </c:pt>
                  <c:pt idx="4">
                    <c:v>17–32</c:v>
                  </c:pt>
                  <c:pt idx="5">
                    <c:v>33–64</c:v>
                  </c:pt>
                  <c:pt idx="6">
                    <c:v>65–128</c:v>
                  </c:pt>
                  <c:pt idx="7">
                    <c:v>129–256</c:v>
                  </c:pt>
                  <c:pt idx="8">
                    <c:v>257–512</c:v>
                  </c:pt>
                  <c:pt idx="9">
                    <c:v>513–1024</c:v>
                  </c:pt>
                  <c:pt idx="10">
                    <c:v>1025–2048</c:v>
                  </c:pt>
                  <c:pt idx="11">
                    <c:v>2049–4096</c:v>
                  </c:pt>
                  <c:pt idx="12">
                    <c:v>4097+</c:v>
                  </c:pt>
                </c:lvl>
              </c:multiLvlStrCache>
            </c:multiLvlStrRef>
          </c:cat>
          <c:val>
            <c:numRef>
              <c:f>Sheet1!$B$2:$B$14</c:f>
              <c:numCache>
                <c:formatCode>General</c:formatCode>
                <c:ptCount val="13"/>
                <c:pt idx="0">
                  <c:v>2.14</c:v>
                </c:pt>
                <c:pt idx="1">
                  <c:v>2.25</c:v>
                </c:pt>
                <c:pt idx="2">
                  <c:v>2.38</c:v>
                </c:pt>
                <c:pt idx="3">
                  <c:v>4</c:v>
                </c:pt>
                <c:pt idx="4">
                  <c:v>5.5</c:v>
                </c:pt>
                <c:pt idx="5">
                  <c:v>6</c:v>
                </c:pt>
                <c:pt idx="6">
                  <c:v>7.38</c:v>
                </c:pt>
                <c:pt idx="7">
                  <c:v>9.75</c:v>
                </c:pt>
                <c:pt idx="8">
                  <c:v>17.5</c:v>
                </c:pt>
                <c:pt idx="9">
                  <c:v>24.88</c:v>
                </c:pt>
                <c:pt idx="10">
                  <c:v>38.2</c:v>
                </c:pt>
                <c:pt idx="11">
                  <c:v>53.99</c:v>
                </c:pt>
                <c:pt idx="12">
                  <c:v>104.1</c:v>
                </c:pt>
              </c:numCache>
            </c:numRef>
          </c:val>
        </c:ser>
        <c:ser>
          <c:idx val="1"/>
          <c:order val="1"/>
          <c:tx>
            <c:strRef>
              <c:f>Sheet1!$C$1</c:f>
              <c:strCache>
                <c:ptCount val="1"/>
                <c:pt idx="0">
                  <c:v>Extra in 50 samples, net of topic baseline</c:v>
                </c:pt>
              </c:strCache>
            </c:strRef>
          </c:tx>
          <c:spPr>
            <a:solidFill>
              <a:srgbClr val="5B6CFF"/>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0"/>
            <c:showCatName val="0"/>
            <c:showSerName val="0"/>
            <c:showPercent val="0"/>
            <c:showBubbleSize val="0"/>
            <c:showLeaderLines val="0"/>
          </c:dLbls>
          <c:cat>
            <c:multiLvlStrRef>
              <c:f>Sheet1!$A$2:$A$14</c:f>
              <c:multiLvlStrCache>
                <c:ptCount val="13"/>
                <c:lvl>
                  <c:pt idx="0">
                    <c:v>0–2</c:v>
                  </c:pt>
                  <c:pt idx="1">
                    <c:v>3–4</c:v>
                  </c:pt>
                  <c:pt idx="2">
                    <c:v>5–8</c:v>
                  </c:pt>
                  <c:pt idx="3">
                    <c:v>9–16</c:v>
                  </c:pt>
                  <c:pt idx="4">
                    <c:v>17–32</c:v>
                  </c:pt>
                  <c:pt idx="5">
                    <c:v>33–64</c:v>
                  </c:pt>
                  <c:pt idx="6">
                    <c:v>65–128</c:v>
                  </c:pt>
                  <c:pt idx="7">
                    <c:v>129–256</c:v>
                  </c:pt>
                  <c:pt idx="8">
                    <c:v>257–512</c:v>
                  </c:pt>
                  <c:pt idx="9">
                    <c:v>513–1024</c:v>
                  </c:pt>
                  <c:pt idx="10">
                    <c:v>1025–2048</c:v>
                  </c:pt>
                  <c:pt idx="11">
                    <c:v>2049–4096</c:v>
                  </c:pt>
                  <c:pt idx="12">
                    <c:v>4097+</c:v>
                  </c:pt>
                </c:lvl>
              </c:multiLvlStrCache>
            </c:multiLvlStrRef>
          </c:cat>
          <c:val>
            <c:numRef>
              <c:f>Sheet1!$C$2:$C$14</c:f>
              <c:numCache>
                <c:formatCode>General</c:formatCode>
                <c:ptCount val="13"/>
                <c:pt idx="0">
                  <c:v>11.5</c:v>
                </c:pt>
                <c:pt idx="1">
                  <c:v>15.5</c:v>
                </c:pt>
                <c:pt idx="2">
                  <c:v>21.64</c:v>
                </c:pt>
                <c:pt idx="3">
                  <c:v>30.63</c:v>
                </c:pt>
                <c:pt idx="4">
                  <c:v>33.1</c:v>
                </c:pt>
                <c:pt idx="5">
                  <c:v>37.52</c:v>
                </c:pt>
                <c:pt idx="6">
                  <c:v>49.43</c:v>
                </c:pt>
                <c:pt idx="7">
                  <c:v>57.81</c:v>
                </c:pt>
                <c:pt idx="8">
                  <c:v>69.72</c:v>
                </c:pt>
                <c:pt idx="9">
                  <c:v>70.35</c:v>
                </c:pt>
                <c:pt idx="10">
                  <c:v>100.42</c:v>
                </c:pt>
                <c:pt idx="11">
                  <c:v>120.07</c:v>
                </c:pt>
                <c:pt idx="12">
                  <c:v>139.38</c:v>
                </c:pt>
              </c:numCache>
            </c:numRef>
          </c:val>
        </c:ser>
        <c:dLbls>
          <c:numFmt formatCode="#,##0" sourceLinked="0"/>
          <c:txPr>
            <a:bodyPr/>
            <a:lstStyle/>
            <a:p>
              <a:pPr>
                <a:defRPr b="0" i="0" strike="noStrike" sz="750" u="none">
                  <a:solidFill>
                    <a:srgbClr val="333333"/>
                  </a:solidFill>
                  <a:latin typeface="Arial"/>
                  <a:ea typeface="Arial"/>
                  <a:cs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50" b="0" i="0" u="none" strike="noStrike">
                <a:solidFill>
                  <a:srgbClr val="333333"/>
                </a:solidFill>
                <a:latin typeface="Arial"/>
                <a:ea typeface="Arial"/>
                <a:cs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700" b="0" i="0" u="none" strike="noStrike">
                <a:solidFill>
                  <a:srgbClr val="8A8A8A"/>
                </a:solidFill>
                <a:latin typeface="Arial"/>
                <a:ea typeface="Arial"/>
                <a:cs typeface="Arial"/>
              </a:defRPr>
            </a:pPr>
            <a:endParaRPr lang="en-US"/>
          </a:p>
        </c:txPr>
        <c:crossAx val="2094734554"/>
        <c:crosses val="autoZero"/>
        <c:crossBetween val="between"/>
      </c:valAx>
      <c:spPr>
        <a:noFill/>
        <a:ln>
          <a:noFill/>
        </a:ln>
        <a:effectLst/>
      </c:spPr>
    </c:plotArea>
    <c:legend>
      <c:legendPos val="t"/>
      <c:overlay val="0"/>
      <c:txPr>
        <a:bodyPr/>
        <a:lstStyle/>
        <a:p>
          <a:pPr>
            <a:defRPr sz="800">
              <a:solidFill>
                <a:srgbClr val="333333"/>
              </a:solidFill>
              <a:latin typeface="Arial"/>
              <a:ea typeface="Arial"/>
              <a:cs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True authors / 100 papers</c:v>
                </c:pt>
              </c:strCache>
            </c:strRef>
          </c:tx>
          <c:spPr>
            <a:solidFill>
              <a:srgbClr val="B8BCC6"/>
            </a:solidFill>
            <a:effectLst/>
          </c:spPr>
          <c:invertIfNegative val="0"/>
          <c:dLbls>
            <c:numFmt formatCode="0.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dPt>
            <c:idx val="0"/>
            <c:invertIfNegative val="0"/>
            <c:bubble3D val="0"/>
            <c:spPr>
              <a:solidFill>
                <a:srgbClr val="B8BCC6"/>
              </a:solidFill>
              <a:effectLst/>
            </c:spPr>
          </c:dPt>
          <c:dPt>
            <c:idx val="1"/>
            <c:invertIfNegative val="0"/>
            <c:bubble3D val="0"/>
            <c:spPr>
              <a:solidFill>
                <a:srgbClr val="E2614A"/>
              </a:solidFill>
              <a:effectLst/>
            </c:spPr>
          </c:dPt>
          <c:dPt>
            <c:idx val="2"/>
            <c:invertIfNegative val="0"/>
            <c:bubble3D val="0"/>
            <c:spPr>
              <a:solidFill>
                <a:srgbClr val="5B6CFF"/>
              </a:solidFill>
              <a:effectLst/>
            </c:spPr>
          </c:dPt>
          <c:cat>
            <c:multiLvlStrRef>
              <c:f>Sheet1!$A$2:$A$4</c:f>
              <c:multiLvlStrCache>
                <c:ptCount val="3"/>
                <c:lvl>
                  <c:pt idx="0">
                    <c:v>Default</c:v>
                  </c:pt>
                  <c:pt idx="1">
                    <c:v>CoT</c:v>
                  </c:pt>
                  <c:pt idx="2">
                    <c:v>20 samples</c:v>
                  </c:pt>
                </c:lvl>
              </c:multiLvlStrCache>
            </c:multiLvlStrRef>
          </c:cat>
          <c:val>
            <c:numRef>
              <c:f>Sheet1!$B$2:$B$4</c:f>
              <c:numCache>
                <c:formatCode>General</c:formatCode>
                <c:ptCount val="3"/>
                <c:pt idx="0">
                  <c:v>13.4</c:v>
                </c:pt>
                <c:pt idx="1">
                  <c:v>15.4</c:v>
                </c:pt>
                <c:pt idx="2">
                  <c:v>18.6</c:v>
                </c:pt>
              </c:numCache>
            </c:numRef>
          </c:val>
        </c:ser>
        <c:dLbls>
          <c:numFmt formatCode="0.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333333"/>
                </a:solidFill>
                <a:latin typeface="Arial"/>
                <a:ea typeface="Arial"/>
                <a:cs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700" b="0" i="0" u="none" strike="noStrike">
                <a:solidFill>
                  <a:srgbClr val="8A8A8A"/>
                </a:solidFill>
                <a:latin typeface="Arial"/>
                <a:ea typeface="Arial"/>
                <a:cs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Invented names / 100 papers</c:v>
                </c:pt>
              </c:strCache>
            </c:strRef>
          </c:tx>
          <c:spPr>
            <a:solidFill>
              <a:srgbClr val="B8BCC6"/>
            </a:solidFill>
            <a:effectLst/>
          </c:spPr>
          <c:invertIfNegative val="0"/>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dPt>
            <c:idx val="0"/>
            <c:invertIfNegative val="0"/>
            <c:bubble3D val="0"/>
            <c:spPr>
              <a:solidFill>
                <a:srgbClr val="B8BCC6"/>
              </a:solidFill>
              <a:effectLst/>
            </c:spPr>
          </c:dPt>
          <c:dPt>
            <c:idx val="1"/>
            <c:invertIfNegative val="0"/>
            <c:bubble3D val="0"/>
            <c:spPr>
              <a:solidFill>
                <a:srgbClr val="E2614A"/>
              </a:solidFill>
              <a:effectLst/>
            </c:spPr>
          </c:dPt>
          <c:dPt>
            <c:idx val="2"/>
            <c:invertIfNegative val="0"/>
            <c:bubble3D val="0"/>
            <c:spPr>
              <a:solidFill>
                <a:srgbClr val="5B6CFF"/>
              </a:solidFill>
              <a:effectLst/>
            </c:spPr>
          </c:dPt>
          <c:cat>
            <c:multiLvlStrRef>
              <c:f>Sheet1!$A$2:$A$4</c:f>
              <c:multiLvlStrCache>
                <c:ptCount val="3"/>
                <c:lvl>
                  <c:pt idx="0">
                    <c:v>Default</c:v>
                  </c:pt>
                  <c:pt idx="1">
                    <c:v>CoT</c:v>
                  </c:pt>
                  <c:pt idx="2">
                    <c:v>20 samples</c:v>
                  </c:pt>
                </c:lvl>
              </c:multiLvlStrCache>
            </c:multiLvlStrRef>
          </c:cat>
          <c:val>
            <c:numRef>
              <c:f>Sheet1!$B$2:$B$4</c:f>
              <c:numCache>
                <c:formatCode>General</c:formatCode>
                <c:ptCount val="3"/>
                <c:pt idx="0">
                  <c:v>516</c:v>
                </c:pt>
                <c:pt idx="1">
                  <c:v>331</c:v>
                </c:pt>
                <c:pt idx="2">
                  <c:v>155</c:v>
                </c:pt>
              </c:numCache>
            </c:numRef>
          </c:val>
        </c:ser>
        <c:dLbls>
          <c:numFmt formatCode="0" sourceLinked="0"/>
          <c:txPr>
            <a:bodyPr/>
            <a:lstStyle/>
            <a:p>
              <a:pPr>
                <a:defRPr b="0" i="0" strike="noStrike" sz="750" u="none">
                  <a:solidFill>
                    <a:srgbClr val="333333"/>
                  </a:solidFill>
                  <a:latin typeface="Arial"/>
                  <a:ea typeface="Arial"/>
                  <a:cs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333333"/>
                </a:solidFill>
                <a:latin typeface="Arial"/>
                <a:ea typeface="Arial"/>
                <a:cs typeface="Arial"/>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700" b="0" i="0" u="none" strike="noStrike">
                <a:solidFill>
                  <a:srgbClr val="8A8A8A"/>
                </a:solidFill>
                <a:latin typeface="Arial"/>
                <a:ea typeface="Arial"/>
                <a:cs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start with what I ran. For all 9,108 papers I gave Qwen3-32B the title and year, with no search and no retrieval, and asked for the author list fifty times, at temperature one with no truncation. That is 455,400 author lists in total. Each name is matched with the paper’s own matcher, last name plus first initial, and pooled with a count per paper.
Before trusting any of it, I checked that my setup is the paper’s setup. My default answers reproduce the paper’s own Qwen3-32B run: 1,211 versus 1,202 true authors named, the same 222 papers mostly named, and the same mean HR2.
One trap: with fifty lists, common surnames match by luck. So every count I show is net of a chance baseline, either the authors of random papers from the same field and citation bin, or, stricter, the authors of the three most similar titles. Only matches above the baseline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choice is our shared measurement: it decides which papers count as known. So before using it, I tested how much it can be passed without knowing the paper.
The blue bars are the normal test, the orange bars hide the title, and the grey bars show another paper’s title. With the team’s design, real teams of other papers, 70% of papers pass. But with the title hidden, 24% still pass, and even with a wrong title 16% do. The model keeps picking the same list in every order, so the real floor is about 16%, not the 5% that pure guessing would give.
Most of the hidden-title advantage is a year cue: when I draw the wrong teams from papers of the same years, it falls from 24% to 18%, close to the floor.
Finally, my own harder test: the wrong options are the model’s own most frequent wrong answers. Known drops from 70% to 41%. Of the 6,179 known papers, 2,009 become unknown. The model often trusts its own invented lists more than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split: when the default answer misses an author, was it never generated, or generated but not chosen?
On the known papers, the default answer names 11 true authors per 100 papers. But across the fifty samples, another 64 per 100 show up, after subtracting the topic baseline. 42% of known papers have at least one such author. For unknown papers it is only 13 per 100, five times less, which also tells us the recognition label does carry signal.
On the right, by citation bin: the grey bars are the default answer, the blue bars what the samples add. It grows with citations, but even the least-cited papers are above the baseline.
And this is not saturated. On a 1,023-paper subset, 50, 100 and 200 samples reach 24, 30 and 36% of true authors. So 'never generated' always has to say at how many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right author is in the samples, can we pick it out? I compared three ways to select.
First, simply counting: how many of the fifty samples name a candidate. True candidates beat false ones of the same paper 74% of the time.
Second, asking the model directly, 'is X an author?', which is P(True). That is worse than counting, 61%: the model’s yes or no adds nothing beyond how often it writes the name.
Third, a joint choice among the four most frequent candidates plus 'none of these'. It is a little better than taking the most frequent one, by three points, but it rarely says 'none' when none is true.
On the right is the held-out result. I chose the rule on the tune split and scored the test split once. Keeping names that appear in at least seven of the fifty samples names 29% more true authors than the default answer and invents 80% fewer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rival is letting the model think first. Thinking costs tokens, so I compare at equal compute. One thinking answer costs about 650 tokens, the same as twenty ordinary samples.
On the left, test split: thinking mode names 15.4 true authors per 100 papers; counting over twenty samples names 18.6, and invents 155 names per 100 instead of 331.
Paired by paper, mean HR2 is not significantly different, but counting names 3.2 more true authors per 100 papers and invents 176 fewer names.
With a bigger budget there is a real trade-off: voting over five thinking answers gives the best HR2 and the fewest invented names, while a hundred ordinary samples name more true authors. Thinking makes each answer surer; sampling covers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same unit as the steering results: true authors named per 100 known papers, here on 4,271 known test papers with our labels.
The default answer names 11.3. Thinking mode adds 5.2. Keeping names that appear in at least three of twenty samples adds 8, at the same cost as thinking, and invents about a third as many names as the default answer.
For reference, steering at layer 24 adds 0.7 to 3 over random controls, but on the team’s 566 known tune papers and labels, so this is not yet a direct comparison. The first next step is exactly that: rerun on split V3’s known tune papers.
Then I want more coverage per token, by asking for authors not yet named or for the first author alone, and a better selector that combines counting with the candidate choice. The point for the team: generate-then-select needs no model internals, and it sets the bar any white-box method should beat at equal compute.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AM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4114800" cy="201168"/>
          </a:xfrm>
          <a:prstGeom prst="rect">
            <a:avLst/>
          </a:prstGeom>
          <a:noFill/>
          <a:ln/>
        </p:spPr>
        <p:txBody>
          <a:bodyPr wrap="square" lIns="0" tIns="0" rIns="0" bIns="0" rtlCol="0" anchor="ctr"/>
          <a:lstStyle/>
          <a:p>
            <a:pPr indent="0" marL="0">
              <a:buNone/>
            </a:pPr>
            <a:r>
              <a:rPr lang="en-US" sz="700" dirty="0">
                <a:solidFill>
                  <a:srgbClr val="8A8A8A"/>
                </a:solidFill>
                <a:latin typeface="Arial" pitchFamily="34" charset="0"/>
                <a:ea typeface="Arial" pitchFamily="34" charset="-122"/>
                <a:cs typeface="Arial" pitchFamily="34" charset="-120"/>
              </a:rPr>
              <a:t>CS 7980  ·  Enhancing Memory of LLMs</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01</a:t>
            </a:r>
            <a:pPr indent="0" marL="0">
              <a:buNone/>
            </a:pPr>
            <a:r>
              <a:rPr lang="en-US" sz="900" dirty="0">
                <a:solidFill>
                  <a:srgbClr val="8A8A8A"/>
                </a:solidFill>
                <a:latin typeface="Arial" pitchFamily="34" charset="0"/>
                <a:ea typeface="Arial" pitchFamily="34" charset="-122"/>
                <a:cs typeface="Arial" pitchFamily="34" charset="-120"/>
              </a:rPr>
              <a:t>  Setup</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Sampling 50 Author Lists for Every Paper</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Same model, prompt and matcher as the paper’s Qwen3-32B run; every count is net of a chance baseline.</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01</a:t>
            </a:r>
            <a:endParaRPr lang="en-US" sz="700" dirty="0"/>
          </a:p>
        </p:txBody>
      </p:sp>
      <p:sp>
        <p:nvSpPr>
          <p:cNvPr id="9" name="Shape 7"/>
          <p:cNvSpPr/>
          <p:nvPr/>
        </p:nvSpPr>
        <p:spPr>
          <a:xfrm>
            <a:off x="457200" y="1042416"/>
            <a:ext cx="566928" cy="219456"/>
          </a:xfrm>
          <a:prstGeom prst="roundRect">
            <a:avLst>
              <a:gd name="adj" fmla="val 20833"/>
            </a:avLst>
          </a:prstGeom>
          <a:solidFill>
            <a:srgbClr val="5B6CFF"/>
          </a:solidFill>
          <a:ln w="12700">
            <a:solidFill>
              <a:srgbClr val="5B6CFF"/>
            </a:solidFill>
            <a:prstDash val="solid"/>
          </a:ln>
        </p:spPr>
      </p:sp>
      <p:sp>
        <p:nvSpPr>
          <p:cNvPr id="10" name="Text 8"/>
          <p:cNvSpPr txBox="1"/>
          <p:nvPr/>
        </p:nvSpPr>
        <p:spPr>
          <a:xfrm>
            <a:off x="457200" y="1042416"/>
            <a:ext cx="566928"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DONE</a:t>
            </a:r>
            <a:endParaRPr lang="en-US" sz="800" dirty="0"/>
          </a:p>
        </p:txBody>
      </p:sp>
      <p:sp>
        <p:nvSpPr>
          <p:cNvPr id="11" name="Text 9"/>
          <p:cNvSpPr txBox="1"/>
          <p:nvPr/>
        </p:nvSpPr>
        <p:spPr>
          <a:xfrm>
            <a:off x="1133856" y="1042416"/>
            <a:ext cx="6400800" cy="219456"/>
          </a:xfrm>
          <a:prstGeom prst="rect">
            <a:avLst/>
          </a:prstGeom>
          <a:noFill/>
          <a:ln/>
        </p:spPr>
        <p:txBody>
          <a:bodyPr wrap="square" lIns="0" tIns="0" rIns="0" bIns="0" rtlCol="0" anchor="ctr"/>
          <a:lstStyle/>
          <a:p>
            <a:pPr indent="0" marL="0">
              <a:buNone/>
            </a:pPr>
            <a:r>
              <a:rPr lang="en-US" sz="900" dirty="0">
                <a:solidFill>
                  <a:srgbClr val="8A8A8A"/>
                </a:solidFill>
                <a:latin typeface="Arial" pitchFamily="34" charset="0"/>
                <a:ea typeface="Arial" pitchFamily="34" charset="-122"/>
                <a:cs typeface="Arial" pitchFamily="34" charset="-120"/>
              </a:rPr>
              <a:t>All 9,108 papers  ·  455,400 author lists  ·  Qwen3-32B, bf16, thinking off</a:t>
            </a:r>
            <a:endParaRPr lang="en-US" sz="900" dirty="0"/>
          </a:p>
        </p:txBody>
      </p:sp>
      <p:sp>
        <p:nvSpPr>
          <p:cNvPr id="12" name="Step 1"/>
          <p:cNvSpPr/>
          <p:nvPr/>
        </p:nvSpPr>
        <p:spPr>
          <a:xfrm>
            <a:off x="457200" y="1389888"/>
            <a:ext cx="1883664" cy="914400"/>
          </a:xfrm>
          <a:prstGeom prst="roundRect">
            <a:avLst>
              <a:gd name="adj" fmla="val 8000"/>
            </a:avLst>
          </a:prstGeom>
          <a:solidFill>
            <a:srgbClr val="F3F4F6"/>
          </a:solidFill>
          <a:ln w="12700">
            <a:solidFill>
              <a:srgbClr val="F3F4F6"/>
            </a:solidFill>
            <a:prstDash val="solid"/>
          </a:ln>
        </p:spPr>
      </p:sp>
      <p:sp>
        <p:nvSpPr>
          <p:cNvPr id="13" name="Shape 11"/>
          <p:cNvSpPr/>
          <p:nvPr/>
        </p:nvSpPr>
        <p:spPr>
          <a:xfrm>
            <a:off x="585216" y="1499616"/>
            <a:ext cx="237744" cy="237744"/>
          </a:xfrm>
          <a:prstGeom prst="ellipse">
            <a:avLst/>
          </a:prstGeom>
          <a:solidFill>
            <a:srgbClr val="5B6CFF"/>
          </a:solidFill>
          <a:ln w="12700">
            <a:solidFill>
              <a:srgbClr val="5B6CFF"/>
            </a:solidFill>
            <a:prstDash val="solid"/>
          </a:ln>
        </p:spPr>
      </p:sp>
      <p:sp>
        <p:nvSpPr>
          <p:cNvPr id="14" name="Text 12"/>
          <p:cNvSpPr txBox="1"/>
          <p:nvPr/>
        </p:nvSpPr>
        <p:spPr>
          <a:xfrm>
            <a:off x="585216"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3"/>
          <p:cNvSpPr txBox="1"/>
          <p:nvPr/>
        </p:nvSpPr>
        <p:spPr>
          <a:xfrm>
            <a:off x="914400"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Arial" pitchFamily="34" charset="0"/>
                <a:ea typeface="Arial" pitchFamily="34" charset="-122"/>
                <a:cs typeface="Arial" pitchFamily="34" charset="-120"/>
              </a:rPr>
              <a:t>Ask</a:t>
            </a:r>
            <a:endParaRPr lang="en-US" sz="1100" dirty="0"/>
          </a:p>
        </p:txBody>
      </p:sp>
      <p:sp>
        <p:nvSpPr>
          <p:cNvPr id="16" name="Text 14"/>
          <p:cNvSpPr txBox="1"/>
          <p:nvPr/>
        </p:nvSpPr>
        <p:spPr>
          <a:xfrm>
            <a:off x="585216"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Qwen3-32B gets the title and year; no search, no retrieval</a:t>
            </a:r>
            <a:endParaRPr lang="en-US" sz="900" dirty="0"/>
          </a:p>
        </p:txBody>
      </p:sp>
      <p:sp>
        <p:nvSpPr>
          <p:cNvPr id="17" name="Shape 15"/>
          <p:cNvSpPr/>
          <p:nvPr/>
        </p:nvSpPr>
        <p:spPr>
          <a:xfrm>
            <a:off x="2359152" y="1847088"/>
            <a:ext cx="210312" cy="0"/>
          </a:xfrm>
          <a:prstGeom prst="line">
            <a:avLst/>
          </a:prstGeom>
          <a:noFill/>
          <a:ln w="12700">
            <a:solidFill>
              <a:srgbClr val="A1A1A1"/>
            </a:solidFill>
            <a:prstDash val="solid"/>
            <a:tailEnd type="triangle"/>
          </a:ln>
        </p:spPr>
      </p:sp>
      <p:sp>
        <p:nvSpPr>
          <p:cNvPr id="18" name="Step 2"/>
          <p:cNvSpPr/>
          <p:nvPr/>
        </p:nvSpPr>
        <p:spPr>
          <a:xfrm>
            <a:off x="2587752" y="1389888"/>
            <a:ext cx="1883664" cy="914400"/>
          </a:xfrm>
          <a:prstGeom prst="roundRect">
            <a:avLst>
              <a:gd name="adj" fmla="val 8000"/>
            </a:avLst>
          </a:prstGeom>
          <a:solidFill>
            <a:srgbClr val="F3F4F6"/>
          </a:solidFill>
          <a:ln w="12700">
            <a:solidFill>
              <a:srgbClr val="F3F4F6"/>
            </a:solidFill>
            <a:prstDash val="solid"/>
          </a:ln>
        </p:spPr>
      </p:sp>
      <p:sp>
        <p:nvSpPr>
          <p:cNvPr id="19" name="Shape 17"/>
          <p:cNvSpPr/>
          <p:nvPr/>
        </p:nvSpPr>
        <p:spPr>
          <a:xfrm>
            <a:off x="2715768" y="1499616"/>
            <a:ext cx="237744" cy="237744"/>
          </a:xfrm>
          <a:prstGeom prst="ellipse">
            <a:avLst/>
          </a:prstGeom>
          <a:solidFill>
            <a:srgbClr val="5B6CFF"/>
          </a:solidFill>
          <a:ln w="12700">
            <a:solidFill>
              <a:srgbClr val="5B6CFF"/>
            </a:solidFill>
            <a:prstDash val="solid"/>
          </a:ln>
        </p:spPr>
      </p:sp>
      <p:sp>
        <p:nvSpPr>
          <p:cNvPr id="20" name="Text 18"/>
          <p:cNvSpPr txBox="1"/>
          <p:nvPr/>
        </p:nvSpPr>
        <p:spPr>
          <a:xfrm>
            <a:off x="2715768"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1" name="Text 19"/>
          <p:cNvSpPr txBox="1"/>
          <p:nvPr/>
        </p:nvSpPr>
        <p:spPr>
          <a:xfrm>
            <a:off x="3044952"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Arial" pitchFamily="34" charset="0"/>
                <a:ea typeface="Arial" pitchFamily="34" charset="-122"/>
                <a:cs typeface="Arial" pitchFamily="34" charset="-120"/>
              </a:rPr>
              <a:t>Sample</a:t>
            </a:r>
            <a:endParaRPr lang="en-US" sz="1100" dirty="0"/>
          </a:p>
        </p:txBody>
      </p:sp>
      <p:sp>
        <p:nvSpPr>
          <p:cNvPr id="22" name="Text 20"/>
          <p:cNvSpPr txBox="1"/>
          <p:nvPr/>
        </p:nvSpPr>
        <p:spPr>
          <a:xfrm>
            <a:off x="2715768"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50 lists per paper at T = 1, with no top-p or top-k cut</a:t>
            </a:r>
            <a:endParaRPr lang="en-US" sz="900" dirty="0"/>
          </a:p>
        </p:txBody>
      </p:sp>
      <p:sp>
        <p:nvSpPr>
          <p:cNvPr id="23" name="Shape 21"/>
          <p:cNvSpPr/>
          <p:nvPr/>
        </p:nvSpPr>
        <p:spPr>
          <a:xfrm>
            <a:off x="4489704" y="1847088"/>
            <a:ext cx="210312" cy="0"/>
          </a:xfrm>
          <a:prstGeom prst="line">
            <a:avLst/>
          </a:prstGeom>
          <a:noFill/>
          <a:ln w="12700">
            <a:solidFill>
              <a:srgbClr val="A1A1A1"/>
            </a:solidFill>
            <a:prstDash val="solid"/>
            <a:tailEnd type="triangle"/>
          </a:ln>
        </p:spPr>
      </p:sp>
      <p:sp>
        <p:nvSpPr>
          <p:cNvPr id="24" name="Step 3"/>
          <p:cNvSpPr/>
          <p:nvPr/>
        </p:nvSpPr>
        <p:spPr>
          <a:xfrm>
            <a:off x="4718304" y="1389888"/>
            <a:ext cx="1883664" cy="914400"/>
          </a:xfrm>
          <a:prstGeom prst="roundRect">
            <a:avLst>
              <a:gd name="adj" fmla="val 8000"/>
            </a:avLst>
          </a:prstGeom>
          <a:solidFill>
            <a:srgbClr val="F3F4F6"/>
          </a:solidFill>
          <a:ln w="12700">
            <a:solidFill>
              <a:srgbClr val="F3F4F6"/>
            </a:solidFill>
            <a:prstDash val="solid"/>
          </a:ln>
        </p:spPr>
      </p:sp>
      <p:sp>
        <p:nvSpPr>
          <p:cNvPr id="25" name="Shape 23"/>
          <p:cNvSpPr/>
          <p:nvPr/>
        </p:nvSpPr>
        <p:spPr>
          <a:xfrm>
            <a:off x="4846320" y="1499616"/>
            <a:ext cx="237744" cy="237744"/>
          </a:xfrm>
          <a:prstGeom prst="ellipse">
            <a:avLst/>
          </a:prstGeom>
          <a:solidFill>
            <a:srgbClr val="5B6CFF"/>
          </a:solidFill>
          <a:ln w="12700">
            <a:solidFill>
              <a:srgbClr val="5B6CFF"/>
            </a:solidFill>
            <a:prstDash val="solid"/>
          </a:ln>
        </p:spPr>
      </p:sp>
      <p:sp>
        <p:nvSpPr>
          <p:cNvPr id="26" name="Text 24"/>
          <p:cNvSpPr txBox="1"/>
          <p:nvPr/>
        </p:nvSpPr>
        <p:spPr>
          <a:xfrm>
            <a:off x="4846320"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7" name="Text 25"/>
          <p:cNvSpPr txBox="1"/>
          <p:nvPr/>
        </p:nvSpPr>
        <p:spPr>
          <a:xfrm>
            <a:off x="5175504"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Arial" pitchFamily="34" charset="0"/>
                <a:ea typeface="Arial" pitchFamily="34" charset="-122"/>
                <a:cs typeface="Arial" pitchFamily="34" charset="-120"/>
              </a:rPr>
              <a:t>Match</a:t>
            </a:r>
            <a:endParaRPr lang="en-US" sz="1100" dirty="0"/>
          </a:p>
        </p:txBody>
      </p:sp>
      <p:sp>
        <p:nvSpPr>
          <p:cNvPr id="28" name="Text 26"/>
          <p:cNvSpPr txBox="1"/>
          <p:nvPr/>
        </p:nvSpPr>
        <p:spPr>
          <a:xfrm>
            <a:off x="4846320"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The paper’s own matcher: last name + first initial</a:t>
            </a:r>
            <a:endParaRPr lang="en-US" sz="900" dirty="0"/>
          </a:p>
        </p:txBody>
      </p:sp>
      <p:sp>
        <p:nvSpPr>
          <p:cNvPr id="29" name="Shape 27"/>
          <p:cNvSpPr/>
          <p:nvPr/>
        </p:nvSpPr>
        <p:spPr>
          <a:xfrm>
            <a:off x="6620256" y="1847088"/>
            <a:ext cx="210312" cy="0"/>
          </a:xfrm>
          <a:prstGeom prst="line">
            <a:avLst/>
          </a:prstGeom>
          <a:noFill/>
          <a:ln w="12700">
            <a:solidFill>
              <a:srgbClr val="A1A1A1"/>
            </a:solidFill>
            <a:prstDash val="solid"/>
            <a:tailEnd type="triangle"/>
          </a:ln>
        </p:spPr>
      </p:sp>
      <p:sp>
        <p:nvSpPr>
          <p:cNvPr id="30" name="Step 4"/>
          <p:cNvSpPr/>
          <p:nvPr/>
        </p:nvSpPr>
        <p:spPr>
          <a:xfrm>
            <a:off x="6848856" y="1389888"/>
            <a:ext cx="1883664" cy="914400"/>
          </a:xfrm>
          <a:prstGeom prst="roundRect">
            <a:avLst>
              <a:gd name="adj" fmla="val 8000"/>
            </a:avLst>
          </a:prstGeom>
          <a:solidFill>
            <a:srgbClr val="F3F4F6"/>
          </a:solidFill>
          <a:ln w="12700">
            <a:solidFill>
              <a:srgbClr val="F3F4F6"/>
            </a:solidFill>
            <a:prstDash val="solid"/>
          </a:ln>
        </p:spPr>
      </p:sp>
      <p:sp>
        <p:nvSpPr>
          <p:cNvPr id="31" name="Shape 29"/>
          <p:cNvSpPr/>
          <p:nvPr/>
        </p:nvSpPr>
        <p:spPr>
          <a:xfrm>
            <a:off x="6976872" y="1499616"/>
            <a:ext cx="237744" cy="237744"/>
          </a:xfrm>
          <a:prstGeom prst="ellipse">
            <a:avLst/>
          </a:prstGeom>
          <a:solidFill>
            <a:srgbClr val="5B6CFF"/>
          </a:solidFill>
          <a:ln w="12700">
            <a:solidFill>
              <a:srgbClr val="5B6CFF"/>
            </a:solidFill>
            <a:prstDash val="solid"/>
          </a:ln>
        </p:spPr>
      </p:sp>
      <p:sp>
        <p:nvSpPr>
          <p:cNvPr id="32" name="Text 30"/>
          <p:cNvSpPr txBox="1"/>
          <p:nvPr/>
        </p:nvSpPr>
        <p:spPr>
          <a:xfrm>
            <a:off x="6976872"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3" name="Text 31"/>
          <p:cNvSpPr txBox="1"/>
          <p:nvPr/>
        </p:nvSpPr>
        <p:spPr>
          <a:xfrm>
            <a:off x="7306056"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Arial" pitchFamily="34" charset="0"/>
                <a:ea typeface="Arial" pitchFamily="34" charset="-122"/>
                <a:cs typeface="Arial" pitchFamily="34" charset="-120"/>
              </a:rPr>
              <a:t>Pool</a:t>
            </a:r>
            <a:endParaRPr lang="en-US" sz="1100" dirty="0"/>
          </a:p>
        </p:txBody>
      </p:sp>
      <p:sp>
        <p:nvSpPr>
          <p:cNvPr id="34" name="Text 32"/>
          <p:cNvSpPr txBox="1"/>
          <p:nvPr/>
        </p:nvSpPr>
        <p:spPr>
          <a:xfrm>
            <a:off x="6976872"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All names from the 50 lists, with counts</a:t>
            </a:r>
            <a:endParaRPr lang="en-US" sz="900" dirty="0"/>
          </a:p>
        </p:txBody>
      </p:sp>
      <p:sp>
        <p:nvSpPr>
          <p:cNvPr id="35" name="Reproduction"/>
          <p:cNvSpPr/>
          <p:nvPr/>
        </p:nvSpPr>
        <p:spPr>
          <a:xfrm>
            <a:off x="457200" y="2487168"/>
            <a:ext cx="4041648" cy="1609344"/>
          </a:xfrm>
          <a:prstGeom prst="roundRect">
            <a:avLst>
              <a:gd name="adj" fmla="val 4545"/>
            </a:avLst>
          </a:prstGeom>
          <a:solidFill>
            <a:srgbClr val="EEF0FF"/>
          </a:solidFill>
          <a:ln w="12700">
            <a:solidFill>
              <a:srgbClr val="EEF0FF"/>
            </a:solidFill>
            <a:prstDash val="solid"/>
          </a:ln>
        </p:spPr>
      </p:sp>
      <p:sp>
        <p:nvSpPr>
          <p:cNvPr id="36" name="Text 34"/>
          <p:cNvSpPr txBox="1"/>
          <p:nvPr/>
        </p:nvSpPr>
        <p:spPr>
          <a:xfrm>
            <a:off x="621792" y="2596896"/>
            <a:ext cx="3749040" cy="237744"/>
          </a:xfrm>
          <a:prstGeom prst="rect">
            <a:avLst/>
          </a:prstGeom>
          <a:noFill/>
          <a:ln/>
        </p:spPr>
        <p:txBody>
          <a:bodyPr wrap="square" lIns="0" tIns="0" rIns="0" bIns="0" rtlCol="0" anchor="ctr"/>
          <a:lstStyle/>
          <a:p>
            <a:pPr indent="0" marL="0">
              <a:buNone/>
            </a:pPr>
            <a:r>
              <a:rPr lang="en-US" sz="1100" b="1" dirty="0">
                <a:solidFill>
                  <a:srgbClr val="3442C8"/>
                </a:solidFill>
                <a:latin typeface="Arial" pitchFamily="34" charset="0"/>
                <a:ea typeface="Arial" pitchFamily="34" charset="-122"/>
                <a:cs typeface="Arial" pitchFamily="34" charset="-120"/>
              </a:rPr>
              <a:t>Our default answer reproduces the paper</a:t>
            </a:r>
            <a:endParaRPr lang="en-US" sz="11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21792" y="2889504"/>
          <a:ext cx="3712464" cy="914400"/>
        </p:xfrm>
        <a:graphic>
          <a:graphicData uri="http://schemas.openxmlformats.org/drawingml/2006/table">
            <a:tbl>
              <a:tblPr/>
              <a:tblGrid>
                <a:gridCol w="2249424"/>
                <a:gridCol w="640080"/>
                <a:gridCol w="822960"/>
              </a:tblGrid>
              <a:tr h="256032">
                <a:tc>
                  <a:txBody>
                    <a:bodyPr/>
                    <a:lstStyle/>
                    <a:p>
                      <a:pPr indent="0" marL="0">
                        <a:buNone/>
                      </a:pPr>
                      <a:endParaRPr lang="en-US" sz="8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8A8A8A"/>
                          </a:solidFill>
                          <a:latin typeface="Arial" pitchFamily="34" charset="0"/>
                          <a:ea typeface="Arial" pitchFamily="34" charset="-122"/>
                          <a:cs typeface="Arial" pitchFamily="34" charset="-120"/>
                        </a:rPr>
                        <a:t>Ours</a:t>
                      </a:r>
                      <a:endParaRPr lang="en-US" sz="8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800" b="1" dirty="0">
                          <a:solidFill>
                            <a:srgbClr val="8A8A8A"/>
                          </a:solidFill>
                          <a:latin typeface="Arial" pitchFamily="34" charset="0"/>
                          <a:ea typeface="Arial" pitchFamily="34" charset="-122"/>
                          <a:cs typeface="Arial" pitchFamily="34" charset="-120"/>
                        </a:rPr>
                        <a:t>Paper’s run</a:t>
                      </a:r>
                      <a:endParaRPr lang="en-US" sz="8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r>
              <a:tr h="256032">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True authors named (9,108 papers)</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1,211</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1,202</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r>
              <a:tr h="256032">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Papers mostly named (HR2 ≤ 0.5)</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222</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222</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r>
              <a:tr h="256032">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Mean HR2</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0.9691</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0.9691</a:t>
                      </a:r>
                      <a:endParaRPr lang="en-US" sz="900" dirty="0">
                        <a:latin typeface="Arial" charset="0"/>
                        <a:ea typeface="Arial" charset="0"/>
                        <a:cs typeface="Arial" charset="0"/>
                      </a:endParaRPr>
                    </a:p>
                  </a:txBody>
                  <a:tcPr marL="36576" marR="36576" marT="18288" marB="18288">
                    <a:lnL w="0" cap="flat" cmpd="sng" algn="ctr">
                      <a:noFill/>
                    </a:lnL>
                    <a:lnR w="0" cap="flat" cmpd="sng" algn="ctr">
                      <a:noFill/>
                    </a:lnR>
                    <a:lnT w="0" cap="flat" cmpd="sng" algn="ctr">
                      <a:noFill/>
                    </a:lnT>
                    <a:lnB w="0" cap="flat" cmpd="sng" algn="ctr">
                      <a:noFill/>
                    </a:lnB>
                  </a:tcPr>
                </a:tc>
              </a:tr>
            </a:tbl>
          </a:graphicData>
        </a:graphic>
      </p:graphicFrame>
      <p:sp>
        <p:nvSpPr>
          <p:cNvPr id="38" name="Chance baseline"/>
          <p:cNvSpPr/>
          <p:nvPr/>
        </p:nvSpPr>
        <p:spPr>
          <a:xfrm>
            <a:off x="4690872" y="2487168"/>
            <a:ext cx="4041648" cy="1609344"/>
          </a:xfrm>
          <a:prstGeom prst="roundRect">
            <a:avLst>
              <a:gd name="adj" fmla="val 4545"/>
            </a:avLst>
          </a:prstGeom>
          <a:solidFill>
            <a:srgbClr val="FFF1ED"/>
          </a:solidFill>
          <a:ln w="12700">
            <a:solidFill>
              <a:srgbClr val="FFF1ED"/>
            </a:solidFill>
            <a:prstDash val="solid"/>
          </a:ln>
        </p:spPr>
      </p:sp>
      <p:sp>
        <p:nvSpPr>
          <p:cNvPr id="39" name="Text 36"/>
          <p:cNvSpPr txBox="1"/>
          <p:nvPr/>
        </p:nvSpPr>
        <p:spPr>
          <a:xfrm>
            <a:off x="4855464" y="2596896"/>
            <a:ext cx="3749040" cy="237744"/>
          </a:xfrm>
          <a:prstGeom prst="rect">
            <a:avLst/>
          </a:prstGeom>
          <a:noFill/>
          <a:ln/>
        </p:spPr>
        <p:txBody>
          <a:bodyPr wrap="square" lIns="0" tIns="0" rIns="0" bIns="0" rtlCol="0" anchor="ctr"/>
          <a:lstStyle/>
          <a:p>
            <a:pPr indent="0" marL="0">
              <a:buNone/>
            </a:pPr>
            <a:r>
              <a:rPr lang="en-US" sz="1100" b="1" dirty="0">
                <a:solidFill>
                  <a:srgbClr val="E2614A"/>
                </a:solidFill>
                <a:latin typeface="Arial" pitchFamily="34" charset="0"/>
                <a:ea typeface="Arial" pitchFamily="34" charset="-122"/>
                <a:cs typeface="Arial" pitchFamily="34" charset="-120"/>
              </a:rPr>
              <a:t>Two chance baselines</a:t>
            </a:r>
            <a:endParaRPr lang="en-US" sz="1100" dirty="0"/>
          </a:p>
        </p:txBody>
      </p:sp>
      <p:sp>
        <p:nvSpPr>
          <p:cNvPr id="40" name="Text 37"/>
          <p:cNvSpPr txBox="1"/>
          <p:nvPr/>
        </p:nvSpPr>
        <p:spPr>
          <a:xfrm>
            <a:off x="4855464" y="2889504"/>
            <a:ext cx="3749040" cy="1143000"/>
          </a:xfrm>
          <a:prstGeom prst="rect">
            <a:avLst/>
          </a:prstGeom>
          <a:noFill/>
          <a:ln/>
        </p:spPr>
        <p:txBody>
          <a:bodyPr wrap="square" lIns="0" tIns="0" rIns="0" bIns="0" rtlCol="0" anchor="t"/>
          <a:lstStyle/>
          <a:p>
            <a:pPr marL="127000" indent="-127000">
              <a:spcAft>
                <a:spcPts val="400"/>
              </a:spcAft>
              <a:buSzPct val="100000"/>
              <a:buChar char="•"/>
            </a:pPr>
            <a:r>
              <a:rPr lang="en-US" sz="950" dirty="0">
                <a:solidFill>
                  <a:srgbClr val="333333"/>
                </a:solidFill>
                <a:latin typeface="Arial" pitchFamily="34" charset="0"/>
                <a:ea typeface="Arial" pitchFamily="34" charset="-122"/>
                <a:cs typeface="Arial" pitchFamily="34" charset="-120"/>
              </a:rPr>
              <a:t>Common names match by luck: 50 lists often include a “J. Wang”</a:t>
            </a:r>
            <a:endParaRPr lang="en-US" sz="950" dirty="0"/>
          </a:p>
          <a:p>
            <a:pPr marL="127000" indent="-127000">
              <a:spcAft>
                <a:spcPts val="400"/>
              </a:spcAft>
              <a:buSzPct val="100000"/>
              <a:buChar char="•"/>
            </a:pPr>
            <a:r>
              <a:rPr lang="en-US" sz="950" dirty="0">
                <a:solidFill>
                  <a:srgbClr val="333333"/>
                </a:solidFill>
                <a:latin typeface="Arial" pitchFamily="34" charset="0"/>
                <a:ea typeface="Arial" pitchFamily="34" charset="-122"/>
                <a:cs typeface="Arial" pitchFamily="34" charset="-120"/>
              </a:rPr>
              <a:t>Random: authors of 3 other papers, same field and citation bin</a:t>
            </a:r>
            <a:endParaRPr lang="en-US" sz="950" dirty="0"/>
          </a:p>
          <a:p>
            <a:pPr marL="127000" indent="-127000">
              <a:spcAft>
                <a:spcPts val="400"/>
              </a:spcAft>
              <a:buSzPct val="100000"/>
              <a:buChar char="•"/>
            </a:pPr>
            <a:r>
              <a:rPr lang="en-US" sz="950" dirty="0">
                <a:solidFill>
                  <a:srgbClr val="333333"/>
                </a:solidFill>
                <a:latin typeface="Arial" pitchFamily="34" charset="0"/>
                <a:ea typeface="Arial" pitchFamily="34" charset="-122"/>
                <a:cs typeface="Arial" pitchFamily="34" charset="-120"/>
              </a:rPr>
              <a:t>Topic (stricter): authors of the 3 most similar titles in the field</a:t>
            </a:r>
            <a:endParaRPr lang="en-US" sz="950" dirty="0"/>
          </a:p>
          <a:p>
            <a:pPr marL="127000" indent="-127000">
              <a:spcAft>
                <a:spcPts val="400"/>
              </a:spcAft>
              <a:buSzPct val="100000"/>
              <a:buChar char="•"/>
            </a:pPr>
            <a:r>
              <a:rPr lang="en-US" sz="950" dirty="0">
                <a:solidFill>
                  <a:srgbClr val="333333"/>
                </a:solidFill>
                <a:latin typeface="Arial" pitchFamily="34" charset="0"/>
                <a:ea typeface="Arial" pitchFamily="34" charset="-122"/>
                <a:cs typeface="Arial" pitchFamily="34" charset="-120"/>
              </a:rPr>
              <a:t>Only matches above the baseline count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02</a:t>
            </a:r>
            <a:pPr indent="0" marL="0">
              <a:buNone/>
            </a:pPr>
            <a:r>
              <a:rPr lang="en-US" sz="900" dirty="0">
                <a:solidFill>
                  <a:srgbClr val="8A8A8A"/>
                </a:solidFill>
                <a:latin typeface="Arial" pitchFamily="34" charset="0"/>
                <a:ea typeface="Arial" pitchFamily="34" charset="-122"/>
                <a:cs typeface="Arial" pitchFamily="34" charset="-120"/>
              </a:rPr>
              <a:t>  Recognition</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The Recognition Test Leaks; Own Wrong Lists Are Harder</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Read “known” against the 16% swapped-title floor; with the model’s own wrong lists, a third of known papers turn unknown.</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02</a:t>
            </a:r>
            <a:endParaRPr lang="en-US" sz="700" dirty="0"/>
          </a:p>
        </p:txBody>
      </p:sp>
      <p:sp>
        <p:nvSpPr>
          <p:cNvPr id="9" name="Text 7"/>
          <p:cNvSpPr txBox="1"/>
          <p:nvPr/>
        </p:nvSpPr>
        <p:spPr>
          <a:xfrm>
            <a:off x="457200" y="1042416"/>
            <a:ext cx="5120640" cy="219456"/>
          </a:xfrm>
          <a:prstGeom prst="rect">
            <a:avLst/>
          </a:prstGeom>
          <a:noFill/>
          <a:ln/>
        </p:spPr>
        <p:txBody>
          <a:bodyPr wrap="square" lIns="0" tIns="0" rIns="0" bIns="0" rtlCol="0" anchor="ctr"/>
          <a:lstStyle/>
          <a:p>
            <a:pPr indent="0" marL="0">
              <a:buNone/>
            </a:pPr>
            <a:r>
              <a:rPr lang="en-US" sz="950" b="1" dirty="0">
                <a:solidFill>
                  <a:srgbClr val="191919"/>
                </a:solidFill>
                <a:latin typeface="Arial" pitchFamily="34" charset="0"/>
                <a:ea typeface="Arial" pitchFamily="34" charset="-122"/>
                <a:cs typeface="Arial" pitchFamily="34" charset="-120"/>
              </a:rPr>
              <a:t>Papers whose true list is chosen in ≥ 3 of 4 option orders (%)</a:t>
            </a:r>
            <a:endParaRPr lang="en-US" sz="950" dirty="0"/>
          </a:p>
        </p:txBody>
      </p:sp>
      <p:graphicFrame>
        <p:nvGraphicFramePr>
          <p:cNvPr id="10" name="Chart 0" descr=""/>
          <p:cNvGraphicFramePr/>
          <p:nvPr/>
        </p:nvGraphicFramePr>
        <p:xfrm>
          <a:off x="365760" y="1280160"/>
          <a:ext cx="5257800" cy="2834640"/>
        </p:xfrm>
        <a:graphic xmlns:a="http://schemas.openxmlformats.org/drawingml/2006/main">
          <a:graphicData uri="http://schemas.openxmlformats.org/drawingml/2006/chart">
            <c:chart xmlns:c="http://schemas.openxmlformats.org/drawingml/2006/chart" r:id="rId1"/>
          </a:graphicData>
        </a:graphic>
      </p:graphicFrame>
      <p:sp>
        <p:nvSpPr>
          <p:cNvPr id="11" name="Floor ≈ 16%, not 5%"/>
          <p:cNvSpPr/>
          <p:nvPr/>
        </p:nvSpPr>
        <p:spPr>
          <a:xfrm>
            <a:off x="5760720" y="1042416"/>
            <a:ext cx="2971800" cy="914400"/>
          </a:xfrm>
          <a:prstGeom prst="roundRect">
            <a:avLst>
              <a:gd name="adj" fmla="val 8000"/>
            </a:avLst>
          </a:prstGeom>
          <a:solidFill>
            <a:srgbClr val="FFF1ED"/>
          </a:solidFill>
          <a:ln w="12700">
            <a:solidFill>
              <a:srgbClr val="FFF1ED"/>
            </a:solidFill>
            <a:prstDash val="solid"/>
          </a:ln>
        </p:spPr>
      </p:sp>
      <p:sp>
        <p:nvSpPr>
          <p:cNvPr id="12" name="Text 9"/>
          <p:cNvSpPr txBox="1"/>
          <p:nvPr/>
        </p:nvSpPr>
        <p:spPr>
          <a:xfrm>
            <a:off x="5907024" y="1133856"/>
            <a:ext cx="2697480" cy="237744"/>
          </a:xfrm>
          <a:prstGeom prst="rect">
            <a:avLst/>
          </a:prstGeom>
          <a:noFill/>
          <a:ln/>
        </p:spPr>
        <p:txBody>
          <a:bodyPr wrap="square" lIns="0" tIns="0" rIns="0" bIns="0" rtlCol="0" anchor="ctr"/>
          <a:lstStyle/>
          <a:p>
            <a:pPr indent="0" marL="0">
              <a:buNone/>
            </a:pPr>
            <a:r>
              <a:rPr lang="en-US" sz="1050" b="1" dirty="0">
                <a:solidFill>
                  <a:srgbClr val="E2614A"/>
                </a:solidFill>
                <a:latin typeface="Arial" pitchFamily="34" charset="0"/>
                <a:ea typeface="Arial" pitchFamily="34" charset="-122"/>
                <a:cs typeface="Arial" pitchFamily="34" charset="-120"/>
              </a:rPr>
              <a:t>Floor ≈ 16%, not 5%</a:t>
            </a:r>
            <a:endParaRPr lang="en-US" sz="1050" dirty="0"/>
          </a:p>
        </p:txBody>
      </p:sp>
      <p:sp>
        <p:nvSpPr>
          <p:cNvPr id="13" name="Text 10"/>
          <p:cNvSpPr txBox="1"/>
          <p:nvPr/>
        </p:nvSpPr>
        <p:spPr>
          <a:xfrm>
            <a:off x="5907024" y="1408176"/>
            <a:ext cx="2697480" cy="50292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With another paper’s title, 16% still pass: the model prefers some lists in every order.</a:t>
            </a:r>
            <a:endParaRPr lang="en-US" sz="900" dirty="0"/>
          </a:p>
        </p:txBody>
      </p:sp>
      <p:sp>
        <p:nvSpPr>
          <p:cNvPr id="14" name="Hidden title: a year cue"/>
          <p:cNvSpPr/>
          <p:nvPr/>
        </p:nvSpPr>
        <p:spPr>
          <a:xfrm>
            <a:off x="5760720" y="2066544"/>
            <a:ext cx="2971800" cy="914400"/>
          </a:xfrm>
          <a:prstGeom prst="roundRect">
            <a:avLst>
              <a:gd name="adj" fmla="val 8000"/>
            </a:avLst>
          </a:prstGeom>
          <a:solidFill>
            <a:srgbClr val="EEF0FF"/>
          </a:solidFill>
          <a:ln w="12700">
            <a:solidFill>
              <a:srgbClr val="EEF0FF"/>
            </a:solidFill>
            <a:prstDash val="solid"/>
          </a:ln>
        </p:spPr>
      </p:sp>
      <p:sp>
        <p:nvSpPr>
          <p:cNvPr id="15" name="Text 12"/>
          <p:cNvSpPr txBox="1"/>
          <p:nvPr/>
        </p:nvSpPr>
        <p:spPr>
          <a:xfrm>
            <a:off x="5907024" y="2157984"/>
            <a:ext cx="2697480" cy="237744"/>
          </a:xfrm>
          <a:prstGeom prst="rect">
            <a:avLst/>
          </a:prstGeom>
          <a:noFill/>
          <a:ln/>
        </p:spPr>
        <p:txBody>
          <a:bodyPr wrap="square" lIns="0" tIns="0" rIns="0" bIns="0" rtlCol="0" anchor="ctr"/>
          <a:lstStyle/>
          <a:p>
            <a:pPr indent="0" marL="0">
              <a:buNone/>
            </a:pPr>
            <a:r>
              <a:rPr lang="en-US" sz="1050" b="1" dirty="0">
                <a:solidFill>
                  <a:srgbClr val="3442C8"/>
                </a:solidFill>
                <a:latin typeface="Arial" pitchFamily="34" charset="0"/>
                <a:ea typeface="Arial" pitchFamily="34" charset="-122"/>
                <a:cs typeface="Arial" pitchFamily="34" charset="-120"/>
              </a:rPr>
              <a:t>Hidden title: a year cue</a:t>
            </a:r>
            <a:endParaRPr lang="en-US" sz="1050" dirty="0"/>
          </a:p>
        </p:txBody>
      </p:sp>
      <p:sp>
        <p:nvSpPr>
          <p:cNvPr id="16" name="Text 13"/>
          <p:cNvSpPr txBox="1"/>
          <p:nvPr/>
        </p:nvSpPr>
        <p:spPr>
          <a:xfrm>
            <a:off x="5907024" y="2432304"/>
            <a:ext cx="2697480" cy="50292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Teams from the same years cut it from 24% to 18%, close to the floor.</a:t>
            </a:r>
            <a:endParaRPr lang="en-US" sz="900" dirty="0"/>
          </a:p>
        </p:txBody>
      </p:sp>
      <p:sp>
        <p:nvSpPr>
          <p:cNvPr id="17" name="Own wrong lists: much harder"/>
          <p:cNvSpPr/>
          <p:nvPr/>
        </p:nvSpPr>
        <p:spPr>
          <a:xfrm>
            <a:off x="5760720" y="3090672"/>
            <a:ext cx="2971800" cy="914400"/>
          </a:xfrm>
          <a:prstGeom prst="roundRect">
            <a:avLst>
              <a:gd name="adj" fmla="val 8000"/>
            </a:avLst>
          </a:prstGeom>
          <a:solidFill>
            <a:srgbClr val="F3F4F6"/>
          </a:solidFill>
          <a:ln w="12700">
            <a:solidFill>
              <a:srgbClr val="F3F4F6"/>
            </a:solidFill>
            <a:prstDash val="solid"/>
          </a:ln>
        </p:spPr>
      </p:sp>
      <p:sp>
        <p:nvSpPr>
          <p:cNvPr id="18" name="Text 15"/>
          <p:cNvSpPr txBox="1"/>
          <p:nvPr/>
        </p:nvSpPr>
        <p:spPr>
          <a:xfrm>
            <a:off x="5907024" y="3182112"/>
            <a:ext cx="2697480" cy="237744"/>
          </a:xfrm>
          <a:prstGeom prst="rect">
            <a:avLst/>
          </a:prstGeom>
          <a:noFill/>
          <a:ln/>
        </p:spPr>
        <p:txBody>
          <a:bodyPr wrap="square" lIns="0" tIns="0" rIns="0" bIns="0" rtlCol="0" anchor="ctr"/>
          <a:lstStyle/>
          <a:p>
            <a:pPr indent="0" marL="0">
              <a:buNone/>
            </a:pPr>
            <a:r>
              <a:rPr lang="en-US" sz="1050" b="1" dirty="0">
                <a:solidFill>
                  <a:srgbClr val="4B5563"/>
                </a:solidFill>
                <a:latin typeface="Arial" pitchFamily="34" charset="0"/>
                <a:ea typeface="Arial" pitchFamily="34" charset="-122"/>
                <a:cs typeface="Arial" pitchFamily="34" charset="-120"/>
              </a:rPr>
              <a:t>Own wrong lists: much harder</a:t>
            </a:r>
            <a:endParaRPr lang="en-US" sz="1050" dirty="0"/>
          </a:p>
        </p:txBody>
      </p:sp>
      <p:sp>
        <p:nvSpPr>
          <p:cNvPr id="19" name="Text 16"/>
          <p:cNvSpPr txBox="1"/>
          <p:nvPr/>
        </p:nvSpPr>
        <p:spPr>
          <a:xfrm>
            <a:off x="5907024" y="3456432"/>
            <a:ext cx="2697480" cy="50292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Known falls from 70% to 41%: 2,009 of 6,179 known papers turn unknown; 82 move up.</a:t>
            </a:r>
            <a:endParaRPr lang="en-US" sz="900" dirty="0"/>
          </a:p>
        </p:txBody>
      </p:sp>
      <p:sp>
        <p:nvSpPr>
          <p:cNvPr id="20" name="Text 17"/>
          <p:cNvSpPr txBox="1"/>
          <p:nvPr/>
        </p:nvSpPr>
        <p:spPr>
          <a:xfrm>
            <a:off x="457200" y="4096512"/>
            <a:ext cx="8275320" cy="146304"/>
          </a:xfrm>
          <a:prstGeom prst="rect">
            <a:avLst/>
          </a:prstGeom>
          <a:noFill/>
          <a:ln/>
        </p:spPr>
        <p:txBody>
          <a:bodyPr wrap="square" lIns="0" tIns="0" rIns="0" bIns="0" rtlCol="0" anchor="ctr"/>
          <a:lstStyle/>
          <a:p>
            <a:pPr indent="0" marL="0">
              <a:buNone/>
            </a:pPr>
            <a:r>
              <a:rPr lang="en-US" sz="700" dirty="0">
                <a:solidFill>
                  <a:srgbClr val="8A8A8A"/>
                </a:solidFill>
                <a:latin typeface="Arial" pitchFamily="34" charset="0"/>
                <a:ea typeface="Arial" pitchFamily="34" charset="-122"/>
                <a:cs typeface="Arial" pitchFamily="34" charset="-120"/>
              </a:rPr>
              <a:t>Labels rebuilt with the team’s rules on our runs: recalled 222 · known 6,179 · notsure 924 · unknown 1,783. Controls: 1,023 papers.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03</a:t>
            </a:r>
            <a:pPr indent="0" marL="0">
              <a:buNone/>
            </a:pPr>
            <a:r>
              <a:rPr lang="en-US" sz="900" dirty="0">
                <a:solidFill>
                  <a:srgbClr val="8A8A8A"/>
                </a:solidFill>
                <a:latin typeface="Arial" pitchFamily="34" charset="0"/>
                <a:ea typeface="Arial" pitchFamily="34" charset="-122"/>
                <a:cs typeface="Arial" pitchFamily="34" charset="-120"/>
              </a:rPr>
              <a:t>  Failure split</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Known Papers: The Right Author Is Often in the Samples</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At 50 samples, 42% of known papers have a true author the default answer misses but some sample names.</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03</a:t>
            </a:r>
            <a:endParaRPr lang="en-US" sz="700" dirty="0"/>
          </a:p>
        </p:txBody>
      </p:sp>
      <p:sp>
        <p:nvSpPr>
          <p:cNvPr id="9" name="Known  ·  6,179 papers"/>
          <p:cNvSpPr/>
          <p:nvPr/>
        </p:nvSpPr>
        <p:spPr>
          <a:xfrm>
            <a:off x="457200" y="1042416"/>
            <a:ext cx="2834640" cy="1444752"/>
          </a:xfrm>
          <a:prstGeom prst="roundRect">
            <a:avLst>
              <a:gd name="adj" fmla="val 5063"/>
            </a:avLst>
          </a:prstGeom>
          <a:solidFill>
            <a:srgbClr val="EEF0FF"/>
          </a:solidFill>
          <a:ln w="12700">
            <a:solidFill>
              <a:srgbClr val="EEF0FF"/>
            </a:solidFill>
            <a:prstDash val="solid"/>
          </a:ln>
        </p:spPr>
      </p:sp>
      <p:sp>
        <p:nvSpPr>
          <p:cNvPr id="10" name="Text 8"/>
          <p:cNvSpPr txBox="1"/>
          <p:nvPr/>
        </p:nvSpPr>
        <p:spPr>
          <a:xfrm>
            <a:off x="603504" y="1133856"/>
            <a:ext cx="2560320" cy="219456"/>
          </a:xfrm>
          <a:prstGeom prst="rect">
            <a:avLst/>
          </a:prstGeom>
          <a:noFill/>
          <a:ln/>
        </p:spPr>
        <p:txBody>
          <a:bodyPr wrap="square" lIns="0" tIns="0" rIns="0" bIns="0" rtlCol="0" anchor="ctr"/>
          <a:lstStyle/>
          <a:p>
            <a:pPr indent="0" marL="0">
              <a:buNone/>
            </a:pPr>
            <a:r>
              <a:rPr lang="en-US" sz="1050" b="1" dirty="0">
                <a:solidFill>
                  <a:srgbClr val="3442C8"/>
                </a:solidFill>
                <a:latin typeface="Arial" pitchFamily="34" charset="0"/>
                <a:ea typeface="Arial" pitchFamily="34" charset="-122"/>
                <a:cs typeface="Arial" pitchFamily="34" charset="-120"/>
              </a:rPr>
              <a:t>Known  ·  6,179 papers</a:t>
            </a:r>
            <a:endParaRPr lang="en-US" sz="1050" dirty="0"/>
          </a:p>
        </p:txBody>
      </p:sp>
      <p:sp>
        <p:nvSpPr>
          <p:cNvPr id="11" name="Text 9"/>
          <p:cNvSpPr txBox="1"/>
          <p:nvPr/>
        </p:nvSpPr>
        <p:spPr>
          <a:xfrm>
            <a:off x="603504" y="1389888"/>
            <a:ext cx="2560320" cy="237744"/>
          </a:xfrm>
          <a:prstGeom prst="rect">
            <a:avLst/>
          </a:prstGeom>
          <a:noFill/>
          <a:ln/>
        </p:spPr>
        <p:txBody>
          <a:bodyPr wrap="square" lIns="0" tIns="0" rIns="0" bIns="0" rtlCol="0" anchor="ctr"/>
          <a:lstStyle/>
          <a:p>
            <a:pPr indent="0" marL="0">
              <a:buNone/>
            </a:pPr>
            <a:r>
              <a:rPr lang="en-US" sz="850" dirty="0">
                <a:solidFill>
                  <a:srgbClr val="8A8A8A"/>
                </a:solidFill>
                <a:latin typeface="Arial" pitchFamily="34" charset="0"/>
                <a:ea typeface="Arial" pitchFamily="34" charset="-122"/>
                <a:cs typeface="Arial" pitchFamily="34" charset="-120"/>
              </a:rPr>
              <a:t>Named by default  </a:t>
            </a:r>
            <a:pPr indent="0" marL="0">
              <a:buNone/>
            </a:pPr>
            <a:r>
              <a:rPr lang="en-US" sz="1100" b="1" dirty="0">
                <a:solidFill>
                  <a:srgbClr val="333333"/>
                </a:solidFill>
                <a:latin typeface="Arial" pitchFamily="34" charset="0"/>
                <a:ea typeface="Arial" pitchFamily="34" charset="-122"/>
                <a:cs typeface="Arial" pitchFamily="34" charset="-120"/>
              </a:rPr>
              <a:t>11.4</a:t>
            </a:r>
            <a:endParaRPr lang="en-US" sz="850" dirty="0"/>
          </a:p>
        </p:txBody>
      </p:sp>
      <p:sp>
        <p:nvSpPr>
          <p:cNvPr id="12" name="Text 10"/>
          <p:cNvSpPr txBox="1"/>
          <p:nvPr/>
        </p:nvSpPr>
        <p:spPr>
          <a:xfrm>
            <a:off x="603504" y="1645920"/>
            <a:ext cx="1143000" cy="457200"/>
          </a:xfrm>
          <a:prstGeom prst="rect">
            <a:avLst/>
          </a:prstGeom>
          <a:noFill/>
          <a:ln/>
        </p:spPr>
        <p:txBody>
          <a:bodyPr wrap="square" lIns="0" tIns="0" rIns="0" bIns="0" rtlCol="0" anchor="ctr"/>
          <a:lstStyle/>
          <a:p>
            <a:pPr indent="0" marL="0">
              <a:buNone/>
            </a:pPr>
            <a:r>
              <a:rPr lang="en-US" sz="2600" b="1" dirty="0">
                <a:solidFill>
                  <a:srgbClr val="3442C8"/>
                </a:solidFill>
                <a:latin typeface="Arial" pitchFamily="34" charset="0"/>
                <a:ea typeface="Arial" pitchFamily="34" charset="-122"/>
                <a:cs typeface="Arial" pitchFamily="34" charset="-120"/>
              </a:rPr>
              <a:t>+64.5</a:t>
            </a:r>
            <a:endParaRPr lang="en-US" sz="2600" dirty="0"/>
          </a:p>
        </p:txBody>
      </p:sp>
      <p:sp>
        <p:nvSpPr>
          <p:cNvPr id="13" name="Text 11"/>
          <p:cNvSpPr txBox="1"/>
          <p:nvPr/>
        </p:nvSpPr>
        <p:spPr>
          <a:xfrm>
            <a:off x="1755648" y="1645920"/>
            <a:ext cx="1463040" cy="457200"/>
          </a:xfrm>
          <a:prstGeom prst="rect">
            <a:avLst/>
          </a:prstGeom>
          <a:noFill/>
          <a:ln/>
        </p:spPr>
        <p:txBody>
          <a:bodyPr wrap="square" lIns="0" tIns="0" rIns="0" bIns="0" rtlCol="0" anchor="ctr"/>
          <a:lstStyle/>
          <a:p>
            <a:pPr indent="0" marL="0">
              <a:buNone/>
            </a:pPr>
            <a:r>
              <a:rPr lang="en-US" sz="800" dirty="0">
                <a:solidFill>
                  <a:srgbClr val="333333"/>
                </a:solidFill>
                <a:latin typeface="Arial" pitchFamily="34" charset="0"/>
                <a:ea typeface="Arial" pitchFamily="34" charset="-122"/>
                <a:cs typeface="Arial" pitchFamily="34" charset="-120"/>
              </a:rPr>
              <a:t>more true authors per 100 papers in the 50 samples, net of the topic baseline</a:t>
            </a:r>
            <a:endParaRPr lang="en-US" sz="800" dirty="0"/>
          </a:p>
        </p:txBody>
      </p:sp>
      <p:sp>
        <p:nvSpPr>
          <p:cNvPr id="14" name="Text 12"/>
          <p:cNvSpPr txBox="1"/>
          <p:nvPr/>
        </p:nvSpPr>
        <p:spPr>
          <a:xfrm>
            <a:off x="603504" y="2139696"/>
            <a:ext cx="2560320" cy="219456"/>
          </a:xfrm>
          <a:prstGeom prst="rect">
            <a:avLst/>
          </a:prstGeom>
          <a:noFill/>
          <a:ln/>
        </p:spPr>
        <p:txBody>
          <a:bodyPr wrap="square" lIns="0" tIns="0" rIns="0" bIns="0" rtlCol="0" anchor="ctr"/>
          <a:lstStyle/>
          <a:p>
            <a:pPr indent="0" marL="0">
              <a:buNone/>
            </a:pPr>
            <a:r>
              <a:rPr lang="en-US" sz="800" dirty="0">
                <a:solidFill>
                  <a:srgbClr val="8A8A8A"/>
                </a:solidFill>
                <a:latin typeface="Arial" pitchFamily="34" charset="0"/>
                <a:ea typeface="Arial" pitchFamily="34" charset="-122"/>
                <a:cs typeface="Arial" pitchFamily="34" charset="-120"/>
              </a:rPr>
              <a:t>[61.8, 67.6]  ·  2,625 papers (42%)</a:t>
            </a:r>
            <a:endParaRPr lang="en-US" sz="800" dirty="0"/>
          </a:p>
        </p:txBody>
      </p:sp>
      <p:sp>
        <p:nvSpPr>
          <p:cNvPr id="15" name="Unknown  ·  1,783 papers"/>
          <p:cNvSpPr/>
          <p:nvPr/>
        </p:nvSpPr>
        <p:spPr>
          <a:xfrm>
            <a:off x="457200" y="2596896"/>
            <a:ext cx="2834640" cy="1444752"/>
          </a:xfrm>
          <a:prstGeom prst="roundRect">
            <a:avLst>
              <a:gd name="adj" fmla="val 5063"/>
            </a:avLst>
          </a:prstGeom>
          <a:solidFill>
            <a:srgbClr val="F3F4F6"/>
          </a:solidFill>
          <a:ln w="12700">
            <a:solidFill>
              <a:srgbClr val="F3F4F6"/>
            </a:solidFill>
            <a:prstDash val="solid"/>
          </a:ln>
        </p:spPr>
      </p:sp>
      <p:sp>
        <p:nvSpPr>
          <p:cNvPr id="16" name="Text 14"/>
          <p:cNvSpPr txBox="1"/>
          <p:nvPr/>
        </p:nvSpPr>
        <p:spPr>
          <a:xfrm>
            <a:off x="603504" y="2688336"/>
            <a:ext cx="2560320" cy="219456"/>
          </a:xfrm>
          <a:prstGeom prst="rect">
            <a:avLst/>
          </a:prstGeom>
          <a:noFill/>
          <a:ln/>
        </p:spPr>
        <p:txBody>
          <a:bodyPr wrap="square" lIns="0" tIns="0" rIns="0" bIns="0" rtlCol="0" anchor="ctr"/>
          <a:lstStyle/>
          <a:p>
            <a:pPr indent="0" marL="0">
              <a:buNone/>
            </a:pPr>
            <a:r>
              <a:rPr lang="en-US" sz="1050" b="1" dirty="0">
                <a:solidFill>
                  <a:srgbClr val="4B5563"/>
                </a:solidFill>
                <a:latin typeface="Arial" pitchFamily="34" charset="0"/>
                <a:ea typeface="Arial" pitchFamily="34" charset="-122"/>
                <a:cs typeface="Arial" pitchFamily="34" charset="-120"/>
              </a:rPr>
              <a:t>Unknown  ·  1,783 papers</a:t>
            </a:r>
            <a:endParaRPr lang="en-US" sz="1050" dirty="0"/>
          </a:p>
        </p:txBody>
      </p:sp>
      <p:sp>
        <p:nvSpPr>
          <p:cNvPr id="17" name="Text 15"/>
          <p:cNvSpPr txBox="1"/>
          <p:nvPr/>
        </p:nvSpPr>
        <p:spPr>
          <a:xfrm>
            <a:off x="603504" y="2944368"/>
            <a:ext cx="2560320" cy="237744"/>
          </a:xfrm>
          <a:prstGeom prst="rect">
            <a:avLst/>
          </a:prstGeom>
          <a:noFill/>
          <a:ln/>
        </p:spPr>
        <p:txBody>
          <a:bodyPr wrap="square" lIns="0" tIns="0" rIns="0" bIns="0" rtlCol="0" anchor="ctr"/>
          <a:lstStyle/>
          <a:p>
            <a:pPr indent="0" marL="0">
              <a:buNone/>
            </a:pPr>
            <a:r>
              <a:rPr lang="en-US" sz="850" dirty="0">
                <a:solidFill>
                  <a:srgbClr val="8A8A8A"/>
                </a:solidFill>
                <a:latin typeface="Arial" pitchFamily="34" charset="0"/>
                <a:ea typeface="Arial" pitchFamily="34" charset="-122"/>
                <a:cs typeface="Arial" pitchFamily="34" charset="-120"/>
              </a:rPr>
              <a:t>Named by default  </a:t>
            </a:r>
            <a:pPr indent="0" marL="0">
              <a:buNone/>
            </a:pPr>
            <a:r>
              <a:rPr lang="en-US" sz="1100" b="1" dirty="0">
                <a:solidFill>
                  <a:srgbClr val="333333"/>
                </a:solidFill>
                <a:latin typeface="Arial" pitchFamily="34" charset="0"/>
                <a:ea typeface="Arial" pitchFamily="34" charset="-122"/>
                <a:cs typeface="Arial" pitchFamily="34" charset="-120"/>
              </a:rPr>
              <a:t>1.3</a:t>
            </a:r>
            <a:endParaRPr lang="en-US" sz="850" dirty="0"/>
          </a:p>
        </p:txBody>
      </p:sp>
      <p:sp>
        <p:nvSpPr>
          <p:cNvPr id="18" name="Text 16"/>
          <p:cNvSpPr txBox="1"/>
          <p:nvPr/>
        </p:nvSpPr>
        <p:spPr>
          <a:xfrm>
            <a:off x="603504" y="3200400"/>
            <a:ext cx="1143000" cy="457200"/>
          </a:xfrm>
          <a:prstGeom prst="rect">
            <a:avLst/>
          </a:prstGeom>
          <a:noFill/>
          <a:ln/>
        </p:spPr>
        <p:txBody>
          <a:bodyPr wrap="square" lIns="0" tIns="0" rIns="0" bIns="0" rtlCol="0" anchor="ctr"/>
          <a:lstStyle/>
          <a:p>
            <a:pPr indent="0" marL="0">
              <a:buNone/>
            </a:pPr>
            <a:r>
              <a:rPr lang="en-US" sz="2600" b="1" dirty="0">
                <a:solidFill>
                  <a:srgbClr val="4B5563"/>
                </a:solidFill>
                <a:latin typeface="Arial" pitchFamily="34" charset="0"/>
                <a:ea typeface="Arial" pitchFamily="34" charset="-122"/>
                <a:cs typeface="Arial" pitchFamily="34" charset="-120"/>
              </a:rPr>
              <a:t>+12.9</a:t>
            </a:r>
            <a:endParaRPr lang="en-US" sz="2600" dirty="0"/>
          </a:p>
        </p:txBody>
      </p:sp>
      <p:sp>
        <p:nvSpPr>
          <p:cNvPr id="19" name="Text 17"/>
          <p:cNvSpPr txBox="1"/>
          <p:nvPr/>
        </p:nvSpPr>
        <p:spPr>
          <a:xfrm>
            <a:off x="1755648" y="3200400"/>
            <a:ext cx="1463040" cy="457200"/>
          </a:xfrm>
          <a:prstGeom prst="rect">
            <a:avLst/>
          </a:prstGeom>
          <a:noFill/>
          <a:ln/>
        </p:spPr>
        <p:txBody>
          <a:bodyPr wrap="square" lIns="0" tIns="0" rIns="0" bIns="0" rtlCol="0" anchor="ctr"/>
          <a:lstStyle/>
          <a:p>
            <a:pPr indent="0" marL="0">
              <a:buNone/>
            </a:pPr>
            <a:r>
              <a:rPr lang="en-US" sz="800" dirty="0">
                <a:solidFill>
                  <a:srgbClr val="333333"/>
                </a:solidFill>
                <a:latin typeface="Arial" pitchFamily="34" charset="0"/>
                <a:ea typeface="Arial" pitchFamily="34" charset="-122"/>
                <a:cs typeface="Arial" pitchFamily="34" charset="-120"/>
              </a:rPr>
              <a:t>more true authors per 100 papers in the 50 samples, net of the topic baseline</a:t>
            </a:r>
            <a:endParaRPr lang="en-US" sz="800" dirty="0"/>
          </a:p>
        </p:txBody>
      </p:sp>
      <p:sp>
        <p:nvSpPr>
          <p:cNvPr id="20" name="Text 18"/>
          <p:cNvSpPr txBox="1"/>
          <p:nvPr/>
        </p:nvSpPr>
        <p:spPr>
          <a:xfrm>
            <a:off x="603504" y="3694176"/>
            <a:ext cx="2560320" cy="219456"/>
          </a:xfrm>
          <a:prstGeom prst="rect">
            <a:avLst/>
          </a:prstGeom>
          <a:noFill/>
          <a:ln/>
        </p:spPr>
        <p:txBody>
          <a:bodyPr wrap="square" lIns="0" tIns="0" rIns="0" bIns="0" rtlCol="0" anchor="ctr"/>
          <a:lstStyle/>
          <a:p>
            <a:pPr indent="0" marL="0">
              <a:buNone/>
            </a:pPr>
            <a:r>
              <a:rPr lang="en-US" sz="800" dirty="0">
                <a:solidFill>
                  <a:srgbClr val="8A8A8A"/>
                </a:solidFill>
                <a:latin typeface="Arial" pitchFamily="34" charset="0"/>
                <a:ea typeface="Arial" pitchFamily="34" charset="-122"/>
                <a:cs typeface="Arial" pitchFamily="34" charset="-120"/>
              </a:rPr>
              <a:t>[10.1, 15.9]  ·  254 papers (14%)</a:t>
            </a:r>
            <a:endParaRPr lang="en-US" sz="800" dirty="0"/>
          </a:p>
        </p:txBody>
      </p:sp>
      <p:sp>
        <p:nvSpPr>
          <p:cNvPr id="21" name="Text 19"/>
          <p:cNvSpPr txBox="1"/>
          <p:nvPr/>
        </p:nvSpPr>
        <p:spPr>
          <a:xfrm>
            <a:off x="3520440" y="1042416"/>
            <a:ext cx="5212080" cy="219456"/>
          </a:xfrm>
          <a:prstGeom prst="rect">
            <a:avLst/>
          </a:prstGeom>
          <a:noFill/>
          <a:ln/>
        </p:spPr>
        <p:txBody>
          <a:bodyPr wrap="square" lIns="0" tIns="0" rIns="0" bIns="0" rtlCol="0" anchor="ctr"/>
          <a:lstStyle/>
          <a:p>
            <a:pPr indent="0" marL="0">
              <a:buNone/>
            </a:pPr>
            <a:r>
              <a:rPr lang="en-US" sz="950" b="1" dirty="0">
                <a:solidFill>
                  <a:srgbClr val="191919"/>
                </a:solidFill>
                <a:latin typeface="Arial" pitchFamily="34" charset="0"/>
                <a:ea typeface="Arial" pitchFamily="34" charset="-122"/>
                <a:cs typeface="Arial" pitchFamily="34" charset="-120"/>
              </a:rPr>
              <a:t>True authors per 100 papers, by citation bin (all 9,108 papers)</a:t>
            </a:r>
            <a:endParaRPr lang="en-US" sz="950" dirty="0"/>
          </a:p>
        </p:txBody>
      </p:sp>
      <p:graphicFrame>
        <p:nvGraphicFramePr>
          <p:cNvPr id="22" name="Chart 0" descr=""/>
          <p:cNvGraphicFramePr/>
          <p:nvPr/>
        </p:nvGraphicFramePr>
        <p:xfrm>
          <a:off x="3429000" y="1243584"/>
          <a:ext cx="5394960" cy="2286000"/>
        </p:xfrm>
        <a:graphic xmlns:a="http://schemas.openxmlformats.org/drawingml/2006/main">
          <a:graphicData uri="http://schemas.openxmlformats.org/drawingml/2006/chart">
            <c:chart xmlns:c="http://schemas.openxmlformats.org/drawingml/2006/chart" r:id="rId1"/>
          </a:graphicData>
        </a:graphic>
      </p:graphicFrame>
      <p:sp>
        <p:nvSpPr>
          <p:cNvPr id="23" name="More samples"/>
          <p:cNvSpPr/>
          <p:nvPr/>
        </p:nvSpPr>
        <p:spPr>
          <a:xfrm>
            <a:off x="3520440" y="3621024"/>
            <a:ext cx="5212080" cy="475488"/>
          </a:xfrm>
          <a:prstGeom prst="roundRect">
            <a:avLst>
              <a:gd name="adj" fmla="val 15385"/>
            </a:avLst>
          </a:prstGeom>
          <a:solidFill>
            <a:srgbClr val="F3F4F6"/>
          </a:solidFill>
          <a:ln w="12700">
            <a:solidFill>
              <a:srgbClr val="F3F4F6"/>
            </a:solidFill>
            <a:prstDash val="solid"/>
          </a:ln>
        </p:spPr>
      </p:sp>
      <p:sp>
        <p:nvSpPr>
          <p:cNvPr id="24" name="Text 21"/>
          <p:cNvSpPr txBox="1"/>
          <p:nvPr/>
        </p:nvSpPr>
        <p:spPr>
          <a:xfrm>
            <a:off x="3657600" y="3621024"/>
            <a:ext cx="4983480" cy="475488"/>
          </a:xfrm>
          <a:prstGeom prst="rect">
            <a:avLst/>
          </a:prstGeom>
          <a:noFill/>
          <a:ln/>
        </p:spPr>
        <p:txBody>
          <a:bodyPr wrap="square" lIns="0" tIns="0" rIns="0" bIns="0" rtlCol="0" anchor="ctr"/>
          <a:lstStyle/>
          <a:p>
            <a:pPr indent="0" marL="0">
              <a:buNone/>
            </a:pPr>
            <a:r>
              <a:rPr lang="en-US" sz="850" b="1" dirty="0">
                <a:solidFill>
                  <a:srgbClr val="191919"/>
                </a:solidFill>
                <a:latin typeface="Arial" pitchFamily="34" charset="0"/>
                <a:ea typeface="Arial" pitchFamily="34" charset="-122"/>
                <a:cs typeface="Arial" pitchFamily="34" charset="-120"/>
              </a:rPr>
              <a:t>More samples reach more  </a:t>
            </a:r>
            <a:pPr indent="0" marL="0">
              <a:buNone/>
            </a:pPr>
            <a:r>
              <a:rPr lang="en-US" sz="850" dirty="0">
                <a:solidFill>
                  <a:srgbClr val="333333"/>
                </a:solidFill>
                <a:latin typeface="Arial" pitchFamily="34" charset="0"/>
                <a:ea typeface="Arial" pitchFamily="34" charset="-122"/>
                <a:cs typeface="Arial" pitchFamily="34" charset="-120"/>
              </a:rPr>
              <a:t>(1,023-paper subset): 50 → 100 → 200 samples name 24% → 30% → 36% of true authors; topic baseline 2% → 3% → 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04</a:t>
            </a:r>
            <a:pPr indent="0" marL="0">
              <a:buNone/>
            </a:pPr>
            <a:r>
              <a:rPr lang="en-US" sz="900" dirty="0">
                <a:solidFill>
                  <a:srgbClr val="8A8A8A"/>
                </a:solidFill>
                <a:latin typeface="Arial" pitchFamily="34" charset="0"/>
                <a:ea typeface="Arial" pitchFamily="34" charset="-122"/>
                <a:cs typeface="Arial" pitchFamily="34" charset="-120"/>
              </a:rPr>
              <a:t>  Selection</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Counting Beats Asking: Frequency Is the Selector to Beat</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Names that recur across samples are usually true: more true authors and far fewer invented ones than the default answer.</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04</a:t>
            </a:r>
            <a:endParaRPr lang="en-US" sz="700" dirty="0"/>
          </a:p>
        </p:txBody>
      </p:sp>
      <p:sp>
        <p:nvSpPr>
          <p:cNvPr id="9" name="Method 1"/>
          <p:cNvSpPr/>
          <p:nvPr/>
        </p:nvSpPr>
        <p:spPr>
          <a:xfrm>
            <a:off x="457200" y="1042416"/>
            <a:ext cx="4846320" cy="914400"/>
          </a:xfrm>
          <a:prstGeom prst="roundRect">
            <a:avLst>
              <a:gd name="adj" fmla="val 8000"/>
            </a:avLst>
          </a:prstGeom>
          <a:solidFill>
            <a:srgbClr val="F3F4F6"/>
          </a:solidFill>
          <a:ln w="12700">
            <a:solidFill>
              <a:srgbClr val="F3F4F6"/>
            </a:solidFill>
            <a:prstDash val="solid"/>
          </a:ln>
        </p:spPr>
      </p:sp>
      <p:sp>
        <p:nvSpPr>
          <p:cNvPr id="10" name="Shape 8"/>
          <p:cNvSpPr/>
          <p:nvPr/>
        </p:nvSpPr>
        <p:spPr>
          <a:xfrm>
            <a:off x="585216" y="1152144"/>
            <a:ext cx="237744" cy="237744"/>
          </a:xfrm>
          <a:prstGeom prst="ellipse">
            <a:avLst/>
          </a:prstGeom>
          <a:solidFill>
            <a:srgbClr val="5B6CFF"/>
          </a:solidFill>
          <a:ln w="12700">
            <a:solidFill>
              <a:srgbClr val="5B6CFF"/>
            </a:solidFill>
            <a:prstDash val="solid"/>
          </a:ln>
        </p:spPr>
      </p:sp>
      <p:sp>
        <p:nvSpPr>
          <p:cNvPr id="11" name="Text 9"/>
          <p:cNvSpPr txBox="1"/>
          <p:nvPr/>
        </p:nvSpPr>
        <p:spPr>
          <a:xfrm>
            <a:off x="585216" y="11521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2" name="Text 10"/>
          <p:cNvSpPr txBox="1"/>
          <p:nvPr/>
        </p:nvSpPr>
        <p:spPr>
          <a:xfrm>
            <a:off x="914400" y="1133856"/>
            <a:ext cx="3200400" cy="274320"/>
          </a:xfrm>
          <a:prstGeom prst="rect">
            <a:avLst/>
          </a:prstGeom>
          <a:noFill/>
          <a:ln/>
        </p:spPr>
        <p:txBody>
          <a:bodyPr wrap="square" lIns="0" tIns="0" rIns="0" bIns="0" rtlCol="0" anchor="ctr"/>
          <a:lstStyle/>
          <a:p>
            <a:pPr indent="0" marL="0">
              <a:buNone/>
            </a:pPr>
            <a:r>
              <a:rPr lang="en-US" sz="1050" b="1" dirty="0">
                <a:solidFill>
                  <a:srgbClr val="191919"/>
                </a:solidFill>
                <a:latin typeface="Arial" pitchFamily="34" charset="0"/>
                <a:ea typeface="Arial" pitchFamily="34" charset="-122"/>
                <a:cs typeface="Arial" pitchFamily="34" charset="-120"/>
              </a:rPr>
              <a:t>Count: how many of the 50 samples name it</a:t>
            </a:r>
            <a:endParaRPr lang="en-US" sz="1050" dirty="0"/>
          </a:p>
        </p:txBody>
      </p:sp>
      <p:sp>
        <p:nvSpPr>
          <p:cNvPr id="13" name="Shape 11"/>
          <p:cNvSpPr/>
          <p:nvPr/>
        </p:nvSpPr>
        <p:spPr>
          <a:xfrm>
            <a:off x="4224528" y="1161288"/>
            <a:ext cx="950976" cy="228600"/>
          </a:xfrm>
          <a:prstGeom prst="roundRect">
            <a:avLst>
              <a:gd name="adj" fmla="val 20000"/>
            </a:avLst>
          </a:prstGeom>
          <a:solidFill>
            <a:srgbClr val="FFFFFF"/>
          </a:solidFill>
          <a:ln w="12700">
            <a:solidFill>
              <a:srgbClr val="E5E7EB"/>
            </a:solidFill>
            <a:prstDash val="solid"/>
          </a:ln>
        </p:spPr>
      </p:sp>
      <p:sp>
        <p:nvSpPr>
          <p:cNvPr id="14" name="Text 12"/>
          <p:cNvSpPr txBox="1"/>
          <p:nvPr/>
        </p:nvSpPr>
        <p:spPr>
          <a:xfrm>
            <a:off x="4224528" y="1161288"/>
            <a:ext cx="950976" cy="228600"/>
          </a:xfrm>
          <a:prstGeom prst="rect">
            <a:avLst/>
          </a:prstGeom>
          <a:noFill/>
          <a:ln/>
        </p:spPr>
        <p:txBody>
          <a:bodyPr wrap="square" lIns="0" tIns="0" rIns="0" bIns="0" rtlCol="0" anchor="ctr"/>
          <a:lstStyle/>
          <a:p>
            <a:pPr algn="ctr" indent="0" marL="0">
              <a:buNone/>
            </a:pPr>
            <a:r>
              <a:rPr lang="en-US" sz="900" b="1" dirty="0">
                <a:solidFill>
                  <a:srgbClr val="5B6CFF"/>
                </a:solidFill>
                <a:latin typeface="Arial" pitchFamily="34" charset="0"/>
                <a:ea typeface="Arial" pitchFamily="34" charset="-122"/>
                <a:cs typeface="Arial" pitchFamily="34" charset="-120"/>
              </a:rPr>
              <a:t>AUC 0.74</a:t>
            </a:r>
            <a:endParaRPr lang="en-US" sz="900" dirty="0"/>
          </a:p>
        </p:txBody>
      </p:sp>
      <p:sp>
        <p:nvSpPr>
          <p:cNvPr id="15" name="Text 13"/>
          <p:cNvSpPr txBox="1"/>
          <p:nvPr/>
        </p:nvSpPr>
        <p:spPr>
          <a:xfrm>
            <a:off x="914400" y="1444752"/>
            <a:ext cx="425196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Ranks a true candidate above a false one of the same paper 74% of the time; top candidate true for 43%.</a:t>
            </a:r>
            <a:endParaRPr lang="en-US" sz="900" dirty="0"/>
          </a:p>
        </p:txBody>
      </p:sp>
      <p:sp>
        <p:nvSpPr>
          <p:cNvPr id="16" name="Method 2"/>
          <p:cNvSpPr/>
          <p:nvPr/>
        </p:nvSpPr>
        <p:spPr>
          <a:xfrm>
            <a:off x="457200" y="2066544"/>
            <a:ext cx="4846320" cy="914400"/>
          </a:xfrm>
          <a:prstGeom prst="roundRect">
            <a:avLst>
              <a:gd name="adj" fmla="val 8000"/>
            </a:avLst>
          </a:prstGeom>
          <a:solidFill>
            <a:srgbClr val="F3F4F6"/>
          </a:solidFill>
          <a:ln w="12700">
            <a:solidFill>
              <a:srgbClr val="F3F4F6"/>
            </a:solidFill>
            <a:prstDash val="solid"/>
          </a:ln>
        </p:spPr>
      </p:sp>
      <p:sp>
        <p:nvSpPr>
          <p:cNvPr id="17" name="Shape 15"/>
          <p:cNvSpPr/>
          <p:nvPr/>
        </p:nvSpPr>
        <p:spPr>
          <a:xfrm>
            <a:off x="585216" y="2176272"/>
            <a:ext cx="237744" cy="237744"/>
          </a:xfrm>
          <a:prstGeom prst="ellipse">
            <a:avLst/>
          </a:prstGeom>
          <a:solidFill>
            <a:srgbClr val="E2614A"/>
          </a:solidFill>
          <a:ln w="12700">
            <a:solidFill>
              <a:srgbClr val="E2614A"/>
            </a:solidFill>
            <a:prstDash val="solid"/>
          </a:ln>
        </p:spPr>
      </p:sp>
      <p:sp>
        <p:nvSpPr>
          <p:cNvPr id="18" name="Text 16"/>
          <p:cNvSpPr txBox="1"/>
          <p:nvPr/>
        </p:nvSpPr>
        <p:spPr>
          <a:xfrm>
            <a:off x="585216" y="217627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9" name="Text 17"/>
          <p:cNvSpPr txBox="1"/>
          <p:nvPr/>
        </p:nvSpPr>
        <p:spPr>
          <a:xfrm>
            <a:off x="914400" y="2157984"/>
            <a:ext cx="3200400" cy="274320"/>
          </a:xfrm>
          <a:prstGeom prst="rect">
            <a:avLst/>
          </a:prstGeom>
          <a:noFill/>
          <a:ln/>
        </p:spPr>
        <p:txBody>
          <a:bodyPr wrap="square" lIns="0" tIns="0" rIns="0" bIns="0" rtlCol="0" anchor="ctr"/>
          <a:lstStyle/>
          <a:p>
            <a:pPr indent="0" marL="0">
              <a:buNone/>
            </a:pPr>
            <a:r>
              <a:rPr lang="en-US" sz="1050" b="1" dirty="0">
                <a:solidFill>
                  <a:srgbClr val="191919"/>
                </a:solidFill>
                <a:latin typeface="Arial" pitchFamily="34" charset="0"/>
                <a:ea typeface="Arial" pitchFamily="34" charset="-122"/>
                <a:cs typeface="Arial" pitchFamily="34" charset="-120"/>
              </a:rPr>
              <a:t>Ask: “Is X an author?” (P(True))</a:t>
            </a:r>
            <a:endParaRPr lang="en-US" sz="1050" dirty="0"/>
          </a:p>
        </p:txBody>
      </p:sp>
      <p:sp>
        <p:nvSpPr>
          <p:cNvPr id="20" name="Shape 18"/>
          <p:cNvSpPr/>
          <p:nvPr/>
        </p:nvSpPr>
        <p:spPr>
          <a:xfrm>
            <a:off x="4224528" y="2185416"/>
            <a:ext cx="950976" cy="228600"/>
          </a:xfrm>
          <a:prstGeom prst="roundRect">
            <a:avLst>
              <a:gd name="adj" fmla="val 20000"/>
            </a:avLst>
          </a:prstGeom>
          <a:solidFill>
            <a:srgbClr val="FFFFFF"/>
          </a:solidFill>
          <a:ln w="12700">
            <a:solidFill>
              <a:srgbClr val="E5E7EB"/>
            </a:solidFill>
            <a:prstDash val="solid"/>
          </a:ln>
        </p:spPr>
      </p:sp>
      <p:sp>
        <p:nvSpPr>
          <p:cNvPr id="21" name="Text 19"/>
          <p:cNvSpPr txBox="1"/>
          <p:nvPr/>
        </p:nvSpPr>
        <p:spPr>
          <a:xfrm>
            <a:off x="4224528" y="2185416"/>
            <a:ext cx="950976" cy="228600"/>
          </a:xfrm>
          <a:prstGeom prst="rect">
            <a:avLst/>
          </a:prstGeom>
          <a:noFill/>
          <a:ln/>
        </p:spPr>
        <p:txBody>
          <a:bodyPr wrap="square" lIns="0" tIns="0" rIns="0" bIns="0" rtlCol="0" anchor="ctr"/>
          <a:lstStyle/>
          <a:p>
            <a:pPr algn="ctr" indent="0" marL="0">
              <a:buNone/>
            </a:pPr>
            <a:r>
              <a:rPr lang="en-US" sz="900" b="1" dirty="0">
                <a:solidFill>
                  <a:srgbClr val="E2614A"/>
                </a:solidFill>
                <a:latin typeface="Arial" pitchFamily="34" charset="0"/>
                <a:ea typeface="Arial" pitchFamily="34" charset="-122"/>
                <a:cs typeface="Arial" pitchFamily="34" charset="-120"/>
              </a:rPr>
              <a:t>AUC 0.61</a:t>
            </a:r>
            <a:endParaRPr lang="en-US" sz="900" dirty="0"/>
          </a:p>
        </p:txBody>
      </p:sp>
      <p:sp>
        <p:nvSpPr>
          <p:cNvPr id="22" name="Text 20"/>
          <p:cNvSpPr txBox="1"/>
          <p:nvPr/>
        </p:nvSpPr>
        <p:spPr>
          <a:xfrm>
            <a:off x="914400" y="2468880"/>
            <a:ext cx="425196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Worse than counting: the model’s own yes/no adds nothing beyond frequency; top candidate true for 31%.</a:t>
            </a:r>
            <a:endParaRPr lang="en-US" sz="900" dirty="0"/>
          </a:p>
        </p:txBody>
      </p:sp>
      <p:sp>
        <p:nvSpPr>
          <p:cNvPr id="23" name="Method 3"/>
          <p:cNvSpPr/>
          <p:nvPr/>
        </p:nvSpPr>
        <p:spPr>
          <a:xfrm>
            <a:off x="457200" y="3090672"/>
            <a:ext cx="4846320" cy="914400"/>
          </a:xfrm>
          <a:prstGeom prst="roundRect">
            <a:avLst>
              <a:gd name="adj" fmla="val 8000"/>
            </a:avLst>
          </a:prstGeom>
          <a:solidFill>
            <a:srgbClr val="F3F4F6"/>
          </a:solidFill>
          <a:ln w="12700">
            <a:solidFill>
              <a:srgbClr val="F3F4F6"/>
            </a:solidFill>
            <a:prstDash val="solid"/>
          </a:ln>
        </p:spPr>
      </p:sp>
      <p:sp>
        <p:nvSpPr>
          <p:cNvPr id="24" name="Shape 22"/>
          <p:cNvSpPr/>
          <p:nvPr/>
        </p:nvSpPr>
        <p:spPr>
          <a:xfrm>
            <a:off x="585216" y="3200400"/>
            <a:ext cx="237744" cy="237744"/>
          </a:xfrm>
          <a:prstGeom prst="ellipse">
            <a:avLst/>
          </a:prstGeom>
          <a:solidFill>
            <a:srgbClr val="4B5563"/>
          </a:solidFill>
          <a:ln w="12700">
            <a:solidFill>
              <a:srgbClr val="4B5563"/>
            </a:solidFill>
            <a:prstDash val="solid"/>
          </a:ln>
        </p:spPr>
      </p:sp>
      <p:sp>
        <p:nvSpPr>
          <p:cNvPr id="25" name="Text 23"/>
          <p:cNvSpPr txBox="1"/>
          <p:nvPr/>
        </p:nvSpPr>
        <p:spPr>
          <a:xfrm>
            <a:off x="585216" y="320040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6" name="Text 24"/>
          <p:cNvSpPr txBox="1"/>
          <p:nvPr/>
        </p:nvSpPr>
        <p:spPr>
          <a:xfrm>
            <a:off x="914400" y="3182112"/>
            <a:ext cx="3200400" cy="274320"/>
          </a:xfrm>
          <a:prstGeom prst="rect">
            <a:avLst/>
          </a:prstGeom>
          <a:noFill/>
          <a:ln/>
        </p:spPr>
        <p:txBody>
          <a:bodyPr wrap="square" lIns="0" tIns="0" rIns="0" bIns="0" rtlCol="0" anchor="ctr"/>
          <a:lstStyle/>
          <a:p>
            <a:pPr indent="0" marL="0">
              <a:buNone/>
            </a:pPr>
            <a:r>
              <a:rPr lang="en-US" sz="1050" b="1" dirty="0">
                <a:solidFill>
                  <a:srgbClr val="191919"/>
                </a:solidFill>
                <a:latin typeface="Arial" pitchFamily="34" charset="0"/>
                <a:ea typeface="Arial" pitchFamily="34" charset="-122"/>
                <a:cs typeface="Arial" pitchFamily="34" charset="-120"/>
              </a:rPr>
              <a:t>Choose among the top 4 + “none of these”</a:t>
            </a:r>
            <a:endParaRPr lang="en-US" sz="1050" dirty="0"/>
          </a:p>
        </p:txBody>
      </p:sp>
      <p:sp>
        <p:nvSpPr>
          <p:cNvPr id="27" name="Shape 25"/>
          <p:cNvSpPr/>
          <p:nvPr/>
        </p:nvSpPr>
        <p:spPr>
          <a:xfrm>
            <a:off x="4224528" y="3209544"/>
            <a:ext cx="950976" cy="228600"/>
          </a:xfrm>
          <a:prstGeom prst="roundRect">
            <a:avLst>
              <a:gd name="adj" fmla="val 20000"/>
            </a:avLst>
          </a:prstGeom>
          <a:solidFill>
            <a:srgbClr val="FFFFFF"/>
          </a:solidFill>
          <a:ln w="12700">
            <a:solidFill>
              <a:srgbClr val="E5E7EB"/>
            </a:solidFill>
            <a:prstDash val="solid"/>
          </a:ln>
        </p:spPr>
      </p:sp>
      <p:sp>
        <p:nvSpPr>
          <p:cNvPr id="28" name="Text 26"/>
          <p:cNvSpPr txBox="1"/>
          <p:nvPr/>
        </p:nvSpPr>
        <p:spPr>
          <a:xfrm>
            <a:off x="4224528" y="3209544"/>
            <a:ext cx="950976" cy="228600"/>
          </a:xfrm>
          <a:prstGeom prst="rect">
            <a:avLst/>
          </a:prstGeom>
          <a:noFill/>
          <a:ln/>
        </p:spPr>
        <p:txBody>
          <a:bodyPr wrap="square" lIns="0" tIns="0" rIns="0" bIns="0" rtlCol="0" anchor="ctr"/>
          <a:lstStyle/>
          <a:p>
            <a:pPr algn="ctr" indent="0" marL="0">
              <a:buNone/>
            </a:pPr>
            <a:r>
              <a:rPr lang="en-US" sz="900" b="1" dirty="0">
                <a:solidFill>
                  <a:srgbClr val="4B5563"/>
                </a:solidFill>
                <a:latin typeface="Arial" pitchFamily="34" charset="0"/>
                <a:ea typeface="Arial" pitchFamily="34" charset="-122"/>
                <a:cs typeface="Arial" pitchFamily="34" charset="-120"/>
              </a:rPr>
              <a:t>+3.0 pts</a:t>
            </a:r>
            <a:endParaRPr lang="en-US" sz="900" dirty="0"/>
          </a:p>
        </p:txBody>
      </p:sp>
      <p:sp>
        <p:nvSpPr>
          <p:cNvPr id="29" name="Text 27"/>
          <p:cNvSpPr txBox="1"/>
          <p:nvPr/>
        </p:nvSpPr>
        <p:spPr>
          <a:xfrm>
            <a:off x="914400" y="3493008"/>
            <a:ext cx="425196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Picks a true author 58.9% vs 55.9% for the most frequent [+0.2, +5.8]; says “none” only 30% of the time when none is true.</a:t>
            </a:r>
            <a:endParaRPr lang="en-US" sz="900" dirty="0"/>
          </a:p>
        </p:txBody>
      </p:sp>
      <p:sp>
        <p:nvSpPr>
          <p:cNvPr id="30" name="Test split"/>
          <p:cNvSpPr/>
          <p:nvPr/>
        </p:nvSpPr>
        <p:spPr>
          <a:xfrm>
            <a:off x="5486400" y="1042416"/>
            <a:ext cx="3246120" cy="3054096"/>
          </a:xfrm>
          <a:prstGeom prst="roundRect">
            <a:avLst>
              <a:gd name="adj" fmla="val 2395"/>
            </a:avLst>
          </a:prstGeom>
          <a:solidFill>
            <a:srgbClr val="EEF0FF"/>
          </a:solidFill>
          <a:ln w="12700">
            <a:solidFill>
              <a:srgbClr val="EEF0FF"/>
            </a:solidFill>
            <a:prstDash val="solid"/>
          </a:ln>
        </p:spPr>
      </p:sp>
      <p:sp>
        <p:nvSpPr>
          <p:cNvPr id="31" name="Text 29"/>
          <p:cNvSpPr txBox="1"/>
          <p:nvPr/>
        </p:nvSpPr>
        <p:spPr>
          <a:xfrm>
            <a:off x="5650992" y="1152144"/>
            <a:ext cx="2926080" cy="237744"/>
          </a:xfrm>
          <a:prstGeom prst="rect">
            <a:avLst/>
          </a:prstGeom>
          <a:noFill/>
          <a:ln/>
        </p:spPr>
        <p:txBody>
          <a:bodyPr wrap="square" lIns="0" tIns="0" rIns="0" bIns="0" rtlCol="0" anchor="ctr"/>
          <a:lstStyle/>
          <a:p>
            <a:pPr indent="0" marL="0">
              <a:buNone/>
            </a:pPr>
            <a:r>
              <a:rPr lang="en-US" sz="1050" b="1" dirty="0">
                <a:solidFill>
                  <a:srgbClr val="3442C8"/>
                </a:solidFill>
                <a:latin typeface="Arial" pitchFamily="34" charset="0"/>
                <a:ea typeface="Arial" pitchFamily="34" charset="-122"/>
                <a:cs typeface="Arial" pitchFamily="34" charset="-120"/>
              </a:rPr>
              <a:t>Test split  ·  6,374 papers</a:t>
            </a:r>
            <a:endParaRPr lang="en-US" sz="1050" dirty="0"/>
          </a:p>
        </p:txBody>
      </p:sp>
      <p:sp>
        <p:nvSpPr>
          <p:cNvPr id="32" name="Text 30"/>
          <p:cNvSpPr txBox="1"/>
          <p:nvPr/>
        </p:nvSpPr>
        <p:spPr>
          <a:xfrm>
            <a:off x="5650992" y="1408176"/>
            <a:ext cx="2926080" cy="365760"/>
          </a:xfrm>
          <a:prstGeom prst="rect">
            <a:avLst/>
          </a:prstGeom>
          <a:noFill/>
          <a:ln/>
        </p:spPr>
        <p:txBody>
          <a:bodyPr wrap="square" lIns="0" tIns="0" rIns="0" bIns="0" rtlCol="0" anchor="t"/>
          <a:lstStyle/>
          <a:p>
            <a:pPr indent="0" marL="0">
              <a:buNone/>
            </a:pPr>
            <a:r>
              <a:rPr lang="en-US" sz="800" dirty="0">
                <a:solidFill>
                  <a:srgbClr val="8A8A8A"/>
                </a:solidFill>
                <a:latin typeface="Arial" pitchFamily="34" charset="0"/>
                <a:ea typeface="Arial" pitchFamily="34" charset="-122"/>
                <a:cs typeface="Arial" pitchFamily="34" charset="-120"/>
              </a:rPr>
              <a:t>Default answer vs names in ≥ 7 of 50 samples (rule chosen on the tune split)</a:t>
            </a:r>
            <a:endParaRPr lang="en-US" sz="800" dirty="0"/>
          </a:p>
        </p:txBody>
      </p:sp>
      <p:sp>
        <p:nvSpPr>
          <p:cNvPr id="33" name="Text 31"/>
          <p:cNvSpPr txBox="1"/>
          <p:nvPr/>
        </p:nvSpPr>
        <p:spPr>
          <a:xfrm>
            <a:off x="5650992" y="2029968"/>
            <a:ext cx="2926080" cy="201168"/>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True authors / 100 papers</a:t>
            </a:r>
            <a:endParaRPr lang="en-US" sz="900" dirty="0"/>
          </a:p>
        </p:txBody>
      </p:sp>
      <p:sp>
        <p:nvSpPr>
          <p:cNvPr id="34" name="Text 32"/>
          <p:cNvSpPr txBox="1"/>
          <p:nvPr/>
        </p:nvSpPr>
        <p:spPr>
          <a:xfrm>
            <a:off x="5650992" y="2267712"/>
            <a:ext cx="2011680" cy="45720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13.4 → 17.2</a:t>
            </a:r>
            <a:endParaRPr lang="en-US" sz="2200" dirty="0"/>
          </a:p>
        </p:txBody>
      </p:sp>
      <p:sp>
        <p:nvSpPr>
          <p:cNvPr id="35" name="Text 33"/>
          <p:cNvSpPr txBox="1"/>
          <p:nvPr/>
        </p:nvSpPr>
        <p:spPr>
          <a:xfrm>
            <a:off x="7680960" y="2267712"/>
            <a:ext cx="914400" cy="457200"/>
          </a:xfrm>
          <a:prstGeom prst="rect">
            <a:avLst/>
          </a:prstGeom>
          <a:noFill/>
          <a:ln/>
        </p:spPr>
        <p:txBody>
          <a:bodyPr wrap="square" lIns="0" tIns="0" rIns="0" bIns="0" rtlCol="0" anchor="ctr"/>
          <a:lstStyle/>
          <a:p>
            <a:pPr algn="r" indent="0" marL="0">
              <a:buNone/>
            </a:pPr>
            <a:r>
              <a:rPr lang="en-US" sz="1600" b="1" dirty="0">
                <a:solidFill>
                  <a:srgbClr val="5B6CFF"/>
                </a:solidFill>
                <a:latin typeface="Arial" pitchFamily="34" charset="0"/>
                <a:ea typeface="Arial" pitchFamily="34" charset="-122"/>
                <a:cs typeface="Arial" pitchFamily="34" charset="-120"/>
              </a:rPr>
              <a:t>+29%</a:t>
            </a:r>
            <a:endParaRPr lang="en-US" sz="1600" dirty="0"/>
          </a:p>
        </p:txBody>
      </p:sp>
      <p:sp>
        <p:nvSpPr>
          <p:cNvPr id="36" name="Text 34"/>
          <p:cNvSpPr txBox="1"/>
          <p:nvPr/>
        </p:nvSpPr>
        <p:spPr>
          <a:xfrm>
            <a:off x="5650992" y="3054096"/>
            <a:ext cx="2926080" cy="201168"/>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Invented names / 100 papers</a:t>
            </a:r>
            <a:endParaRPr lang="en-US" sz="900" dirty="0"/>
          </a:p>
        </p:txBody>
      </p:sp>
      <p:sp>
        <p:nvSpPr>
          <p:cNvPr id="37" name="Text 35"/>
          <p:cNvSpPr txBox="1"/>
          <p:nvPr/>
        </p:nvSpPr>
        <p:spPr>
          <a:xfrm>
            <a:off x="5650992" y="3291840"/>
            <a:ext cx="2011680" cy="45720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516 → 101</a:t>
            </a:r>
            <a:endParaRPr lang="en-US" sz="2200" dirty="0"/>
          </a:p>
        </p:txBody>
      </p:sp>
      <p:sp>
        <p:nvSpPr>
          <p:cNvPr id="38" name="Text 36"/>
          <p:cNvSpPr txBox="1"/>
          <p:nvPr/>
        </p:nvSpPr>
        <p:spPr>
          <a:xfrm>
            <a:off x="7680960" y="3291840"/>
            <a:ext cx="914400" cy="457200"/>
          </a:xfrm>
          <a:prstGeom prst="rect">
            <a:avLst/>
          </a:prstGeom>
          <a:noFill/>
          <a:ln/>
        </p:spPr>
        <p:txBody>
          <a:bodyPr wrap="square" lIns="0" tIns="0" rIns="0" bIns="0" rtlCol="0" anchor="ctr"/>
          <a:lstStyle/>
          <a:p>
            <a:pPr algn="r" indent="0" marL="0">
              <a:buNone/>
            </a:pPr>
            <a:r>
              <a:rPr lang="en-US" sz="1600" b="1" dirty="0">
                <a:solidFill>
                  <a:srgbClr val="5B6CFF"/>
                </a:solidFill>
                <a:latin typeface="Arial" pitchFamily="34" charset="0"/>
                <a:ea typeface="Arial" pitchFamily="34" charset="-122"/>
                <a:cs typeface="Arial" pitchFamily="34" charset="-120"/>
              </a:rPr>
              <a:t>−80%</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05</a:t>
            </a:r>
            <a:pPr indent="0" marL="0">
              <a:buNone/>
            </a:pPr>
            <a:r>
              <a:rPr lang="en-US" sz="900" dirty="0">
                <a:solidFill>
                  <a:srgbClr val="8A8A8A"/>
                </a:solidFill>
                <a:latin typeface="Arial" pitchFamily="34" charset="0"/>
                <a:ea typeface="Arial" pitchFamily="34" charset="-122"/>
                <a:cs typeface="Arial" pitchFamily="34" charset="-120"/>
              </a:rPr>
              <a:t>  Equal compute</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At Equal Compute, Counting Matches Thinking</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At thinking mode’s cost, counting over 20 samples ties it on HR2, names more true authors and invents half as many.</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05</a:t>
            </a:r>
            <a:endParaRPr lang="en-US" sz="700" dirty="0"/>
          </a:p>
        </p:txBody>
      </p:sp>
      <p:sp>
        <p:nvSpPr>
          <p:cNvPr id="9" name="Text 7"/>
          <p:cNvSpPr txBox="1"/>
          <p:nvPr/>
        </p:nvSpPr>
        <p:spPr>
          <a:xfrm>
            <a:off x="457200" y="1042416"/>
            <a:ext cx="2377440" cy="219456"/>
          </a:xfrm>
          <a:prstGeom prst="rect">
            <a:avLst/>
          </a:prstGeom>
          <a:noFill/>
          <a:ln/>
        </p:spPr>
        <p:txBody>
          <a:bodyPr wrap="square" lIns="0" tIns="0" rIns="0" bIns="0" rtlCol="0" anchor="ctr"/>
          <a:lstStyle/>
          <a:p>
            <a:pPr indent="0" marL="0">
              <a:buNone/>
            </a:pPr>
            <a:r>
              <a:rPr lang="en-US" sz="950" b="1" dirty="0">
                <a:solidFill>
                  <a:srgbClr val="191919"/>
                </a:solidFill>
                <a:latin typeface="Arial" pitchFamily="34" charset="0"/>
                <a:ea typeface="Arial" pitchFamily="34" charset="-122"/>
                <a:cs typeface="Arial" pitchFamily="34" charset="-120"/>
              </a:rPr>
              <a:t>True authors / 100 papers</a:t>
            </a:r>
            <a:endParaRPr lang="en-US" sz="950" dirty="0"/>
          </a:p>
        </p:txBody>
      </p:sp>
      <p:sp>
        <p:nvSpPr>
          <p:cNvPr id="10" name="Text 8"/>
          <p:cNvSpPr txBox="1"/>
          <p:nvPr/>
        </p:nvSpPr>
        <p:spPr>
          <a:xfrm>
            <a:off x="457200" y="1261872"/>
            <a:ext cx="2377440" cy="182880"/>
          </a:xfrm>
          <a:prstGeom prst="rect">
            <a:avLst/>
          </a:prstGeom>
          <a:noFill/>
          <a:ln/>
        </p:spPr>
        <p:txBody>
          <a:bodyPr wrap="square" lIns="0" tIns="0" rIns="0" bIns="0" rtlCol="0" anchor="ctr"/>
          <a:lstStyle/>
          <a:p>
            <a:pPr indent="0" marL="0">
              <a:buNone/>
            </a:pPr>
            <a:r>
              <a:rPr lang="en-US" sz="800" dirty="0">
                <a:solidFill>
                  <a:srgbClr val="8A8A8A"/>
                </a:solidFill>
                <a:latin typeface="Arial" pitchFamily="34" charset="0"/>
                <a:ea typeface="Arial" pitchFamily="34" charset="-122"/>
                <a:cs typeface="Arial" pitchFamily="34" charset="-120"/>
              </a:rPr>
              <a:t>tokens per paper: 33 · 646 · 645</a:t>
            </a:r>
            <a:endParaRPr lang="en-US" sz="800" dirty="0"/>
          </a:p>
        </p:txBody>
      </p:sp>
      <p:graphicFrame>
        <p:nvGraphicFramePr>
          <p:cNvPr id="11" name="Chart 0" descr=""/>
          <p:cNvGraphicFramePr/>
          <p:nvPr/>
        </p:nvGraphicFramePr>
        <p:xfrm>
          <a:off x="365760" y="1463040"/>
          <a:ext cx="2514600" cy="224028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2971800" y="1042416"/>
            <a:ext cx="2377440" cy="219456"/>
          </a:xfrm>
          <a:prstGeom prst="rect">
            <a:avLst/>
          </a:prstGeom>
          <a:noFill/>
          <a:ln/>
        </p:spPr>
        <p:txBody>
          <a:bodyPr wrap="square" lIns="0" tIns="0" rIns="0" bIns="0" rtlCol="0" anchor="ctr"/>
          <a:lstStyle/>
          <a:p>
            <a:pPr indent="0" marL="0">
              <a:buNone/>
            </a:pPr>
            <a:r>
              <a:rPr lang="en-US" sz="950" b="1" dirty="0">
                <a:solidFill>
                  <a:srgbClr val="191919"/>
                </a:solidFill>
                <a:latin typeface="Arial" pitchFamily="34" charset="0"/>
                <a:ea typeface="Arial" pitchFamily="34" charset="-122"/>
                <a:cs typeface="Arial" pitchFamily="34" charset="-120"/>
              </a:rPr>
              <a:t>Invented names / 100 papers</a:t>
            </a:r>
            <a:endParaRPr lang="en-US" sz="950" dirty="0"/>
          </a:p>
        </p:txBody>
      </p:sp>
      <p:sp>
        <p:nvSpPr>
          <p:cNvPr id="13" name="Text 10"/>
          <p:cNvSpPr txBox="1"/>
          <p:nvPr/>
        </p:nvSpPr>
        <p:spPr>
          <a:xfrm>
            <a:off x="2971800" y="1261872"/>
            <a:ext cx="2377440" cy="182880"/>
          </a:xfrm>
          <a:prstGeom prst="rect">
            <a:avLst/>
          </a:prstGeom>
          <a:noFill/>
          <a:ln/>
        </p:spPr>
        <p:txBody>
          <a:bodyPr wrap="square" lIns="0" tIns="0" rIns="0" bIns="0" rtlCol="0" anchor="ctr"/>
          <a:lstStyle/>
          <a:p>
            <a:pPr indent="0" marL="0">
              <a:buNone/>
            </a:pPr>
            <a:r>
              <a:rPr lang="en-US" sz="800" dirty="0">
                <a:solidFill>
                  <a:srgbClr val="8A8A8A"/>
                </a:solidFill>
                <a:latin typeface="Arial" pitchFamily="34" charset="0"/>
                <a:ea typeface="Arial" pitchFamily="34" charset="-122"/>
                <a:cs typeface="Arial" pitchFamily="34" charset="-120"/>
              </a:rPr>
              <a:t>tokens per paper: 33 · 646 · 645</a:t>
            </a:r>
            <a:endParaRPr lang="en-US" sz="800" dirty="0"/>
          </a:p>
        </p:txBody>
      </p:sp>
      <p:graphicFrame>
        <p:nvGraphicFramePr>
          <p:cNvPr id="14" name="Chart 1" descr=""/>
          <p:cNvGraphicFramePr/>
          <p:nvPr/>
        </p:nvGraphicFramePr>
        <p:xfrm>
          <a:off x="2880360" y="1463040"/>
          <a:ext cx="2514600" cy="224028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457200" y="3767328"/>
            <a:ext cx="4937760" cy="329184"/>
          </a:xfrm>
          <a:prstGeom prst="rect">
            <a:avLst/>
          </a:prstGeom>
          <a:noFill/>
          <a:ln/>
        </p:spPr>
        <p:txBody>
          <a:bodyPr wrap="square" lIns="0" tIns="0" rIns="0" bIns="0" rtlCol="0" anchor="ctr"/>
          <a:lstStyle/>
          <a:p>
            <a:pPr indent="0" marL="0">
              <a:buNone/>
            </a:pPr>
            <a:r>
              <a:rPr lang="en-US" sz="800" dirty="0">
                <a:solidFill>
                  <a:srgbClr val="8A8A8A"/>
                </a:solidFill>
                <a:latin typeface="Arial" pitchFamily="34" charset="0"/>
                <a:ea typeface="Arial" pitchFamily="34" charset="-122"/>
                <a:cs typeface="Arial" pitchFamily="34" charset="-120"/>
              </a:rPr>
              <a:t>Test split, 6,374 papers. Per token, ordinary samples reach 2.5× more true authors than thinking answers.</a:t>
            </a:r>
            <a:endParaRPr lang="en-US" sz="800" dirty="0"/>
          </a:p>
        </p:txBody>
      </p:sp>
      <p:sp>
        <p:nvSpPr>
          <p:cNvPr id="16" name="Paired"/>
          <p:cNvSpPr/>
          <p:nvPr/>
        </p:nvSpPr>
        <p:spPr>
          <a:xfrm>
            <a:off x="5577840" y="1042416"/>
            <a:ext cx="3154680" cy="1755648"/>
          </a:xfrm>
          <a:prstGeom prst="roundRect">
            <a:avLst>
              <a:gd name="adj" fmla="val 4167"/>
            </a:avLst>
          </a:prstGeom>
          <a:solidFill>
            <a:srgbClr val="EEF0FF"/>
          </a:solidFill>
          <a:ln w="12700">
            <a:solidFill>
              <a:srgbClr val="EEF0FF"/>
            </a:solidFill>
            <a:prstDash val="solid"/>
          </a:ln>
        </p:spPr>
      </p:sp>
      <p:sp>
        <p:nvSpPr>
          <p:cNvPr id="17" name="Text 13"/>
          <p:cNvSpPr txBox="1"/>
          <p:nvPr/>
        </p:nvSpPr>
        <p:spPr>
          <a:xfrm>
            <a:off x="5724144" y="1133856"/>
            <a:ext cx="2880360" cy="237744"/>
          </a:xfrm>
          <a:prstGeom prst="rect">
            <a:avLst/>
          </a:prstGeom>
          <a:noFill/>
          <a:ln/>
        </p:spPr>
        <p:txBody>
          <a:bodyPr wrap="square" lIns="0" tIns="0" rIns="0" bIns="0" rtlCol="0" anchor="ctr"/>
          <a:lstStyle/>
          <a:p>
            <a:pPr indent="0" marL="0">
              <a:buNone/>
            </a:pPr>
            <a:r>
              <a:rPr lang="en-US" sz="1050" b="1" dirty="0">
                <a:solidFill>
                  <a:srgbClr val="3442C8"/>
                </a:solidFill>
                <a:latin typeface="Arial" pitchFamily="34" charset="0"/>
                <a:ea typeface="Arial" pitchFamily="34" charset="-122"/>
                <a:cs typeface="Arial" pitchFamily="34" charset="-120"/>
              </a:rPr>
              <a:t>Paired: 20 samples + count minus CoT</a:t>
            </a:r>
            <a:endParaRPr lang="en-US" sz="1050" dirty="0"/>
          </a:p>
        </p:txBody>
      </p:sp>
      <p:sp>
        <p:nvSpPr>
          <p:cNvPr id="18" name="Text 14"/>
          <p:cNvSpPr txBox="1"/>
          <p:nvPr/>
        </p:nvSpPr>
        <p:spPr>
          <a:xfrm>
            <a:off x="5724144" y="1463040"/>
            <a:ext cx="2880360" cy="329184"/>
          </a:xfrm>
          <a:prstGeom prst="rect">
            <a:avLst/>
          </a:prstGeom>
          <a:noFill/>
          <a:ln/>
        </p:spPr>
        <p:txBody>
          <a:bodyPr wrap="square" lIns="0" tIns="0" rIns="0" bIns="0" rtlCol="0" anchor="ctr"/>
          <a:lstStyle/>
          <a:p>
            <a:pPr indent="0" marL="0">
              <a:buNone/>
            </a:pPr>
            <a:r>
              <a:rPr lang="en-US" sz="900" b="1" dirty="0">
                <a:solidFill>
                  <a:srgbClr val="191919"/>
                </a:solidFill>
                <a:latin typeface="Arial" pitchFamily="34" charset="0"/>
                <a:ea typeface="Arial" pitchFamily="34" charset="-122"/>
                <a:cs typeface="Arial" pitchFamily="34" charset="-120"/>
              </a:rPr>
              <a:t>Mean HR2  </a:t>
            </a:r>
            <a:pPr indent="0" marL="0">
              <a:buNone/>
            </a:pPr>
            <a:r>
              <a:rPr lang="en-US" sz="900" dirty="0">
                <a:solidFill>
                  <a:srgbClr val="333333"/>
                </a:solidFill>
                <a:latin typeface="Arial" pitchFamily="34" charset="0"/>
                <a:ea typeface="Arial" pitchFamily="34" charset="-122"/>
                <a:cs typeface="Arial" pitchFamily="34" charset="-120"/>
              </a:rPr>
              <a:t>+0.002 [−0.001, +0.005], n.s.</a:t>
            </a:r>
            <a:endParaRPr lang="en-US" sz="900" dirty="0"/>
          </a:p>
        </p:txBody>
      </p:sp>
      <p:sp>
        <p:nvSpPr>
          <p:cNvPr id="19" name="Text 15"/>
          <p:cNvSpPr txBox="1"/>
          <p:nvPr/>
        </p:nvSpPr>
        <p:spPr>
          <a:xfrm>
            <a:off x="5724144" y="1865376"/>
            <a:ext cx="2880360" cy="329184"/>
          </a:xfrm>
          <a:prstGeom prst="rect">
            <a:avLst/>
          </a:prstGeom>
          <a:noFill/>
          <a:ln/>
        </p:spPr>
        <p:txBody>
          <a:bodyPr wrap="square" lIns="0" tIns="0" rIns="0" bIns="0" rtlCol="0" anchor="ctr"/>
          <a:lstStyle/>
          <a:p>
            <a:pPr indent="0" marL="0">
              <a:buNone/>
            </a:pPr>
            <a:r>
              <a:rPr lang="en-US" sz="900" b="1" dirty="0">
                <a:solidFill>
                  <a:srgbClr val="191919"/>
                </a:solidFill>
                <a:latin typeface="Arial" pitchFamily="34" charset="0"/>
                <a:ea typeface="Arial" pitchFamily="34" charset="-122"/>
                <a:cs typeface="Arial" pitchFamily="34" charset="-120"/>
              </a:rPr>
              <a:t>True authors  </a:t>
            </a:r>
            <a:pPr indent="0" marL="0">
              <a:buNone/>
            </a:pPr>
            <a:r>
              <a:rPr lang="en-US" sz="900" dirty="0">
                <a:solidFill>
                  <a:srgbClr val="333333"/>
                </a:solidFill>
                <a:latin typeface="Arial" pitchFamily="34" charset="0"/>
                <a:ea typeface="Arial" pitchFamily="34" charset="-122"/>
                <a:cs typeface="Arial" pitchFamily="34" charset="-120"/>
              </a:rPr>
              <a:t>+3.2 per 100 [+1.9, +4.4]</a:t>
            </a:r>
            <a:endParaRPr lang="en-US" sz="900" dirty="0"/>
          </a:p>
        </p:txBody>
      </p:sp>
      <p:sp>
        <p:nvSpPr>
          <p:cNvPr id="20" name="Text 16"/>
          <p:cNvSpPr txBox="1"/>
          <p:nvPr/>
        </p:nvSpPr>
        <p:spPr>
          <a:xfrm>
            <a:off x="5724144" y="2267712"/>
            <a:ext cx="2880360" cy="329184"/>
          </a:xfrm>
          <a:prstGeom prst="rect">
            <a:avLst/>
          </a:prstGeom>
          <a:noFill/>
          <a:ln/>
        </p:spPr>
        <p:txBody>
          <a:bodyPr wrap="square" lIns="0" tIns="0" rIns="0" bIns="0" rtlCol="0" anchor="ctr"/>
          <a:lstStyle/>
          <a:p>
            <a:pPr indent="0" marL="0">
              <a:buNone/>
            </a:pPr>
            <a:r>
              <a:rPr lang="en-US" sz="900" b="1" dirty="0">
                <a:solidFill>
                  <a:srgbClr val="191919"/>
                </a:solidFill>
                <a:latin typeface="Arial" pitchFamily="34" charset="0"/>
                <a:ea typeface="Arial" pitchFamily="34" charset="-122"/>
                <a:cs typeface="Arial" pitchFamily="34" charset="-120"/>
              </a:rPr>
              <a:t>Invented names  </a:t>
            </a:r>
            <a:pPr indent="0" marL="0">
              <a:buNone/>
            </a:pPr>
            <a:r>
              <a:rPr lang="en-US" sz="900" dirty="0">
                <a:solidFill>
                  <a:srgbClr val="333333"/>
                </a:solidFill>
                <a:latin typeface="Arial" pitchFamily="34" charset="0"/>
                <a:ea typeface="Arial" pitchFamily="34" charset="-122"/>
                <a:cs typeface="Arial" pitchFamily="34" charset="-120"/>
              </a:rPr>
              <a:t>−176 per 100 [−233, −131]</a:t>
            </a:r>
            <a:endParaRPr lang="en-US" sz="900" dirty="0"/>
          </a:p>
        </p:txBody>
      </p:sp>
      <p:sp>
        <p:nvSpPr>
          <p:cNvPr id="21" name="Larger budget"/>
          <p:cNvSpPr/>
          <p:nvPr/>
        </p:nvSpPr>
        <p:spPr>
          <a:xfrm>
            <a:off x="5577840" y="2907792"/>
            <a:ext cx="3154680" cy="1188720"/>
          </a:xfrm>
          <a:prstGeom prst="roundRect">
            <a:avLst>
              <a:gd name="adj" fmla="val 6154"/>
            </a:avLst>
          </a:prstGeom>
          <a:solidFill>
            <a:srgbClr val="F3F4F6"/>
          </a:solidFill>
          <a:ln w="12700">
            <a:solidFill>
              <a:srgbClr val="F3F4F6"/>
            </a:solidFill>
            <a:prstDash val="solid"/>
          </a:ln>
        </p:spPr>
      </p:sp>
      <p:sp>
        <p:nvSpPr>
          <p:cNvPr id="22" name="Text 18"/>
          <p:cNvSpPr txBox="1"/>
          <p:nvPr/>
        </p:nvSpPr>
        <p:spPr>
          <a:xfrm>
            <a:off x="5724144" y="2999232"/>
            <a:ext cx="2880360" cy="219456"/>
          </a:xfrm>
          <a:prstGeom prst="rect">
            <a:avLst/>
          </a:prstGeom>
          <a:noFill/>
          <a:ln/>
        </p:spPr>
        <p:txBody>
          <a:bodyPr wrap="square" lIns="0" tIns="0" rIns="0" bIns="0" rtlCol="0" anchor="ctr"/>
          <a:lstStyle/>
          <a:p>
            <a:pPr indent="0" marL="0">
              <a:buNone/>
            </a:pPr>
            <a:r>
              <a:rPr lang="en-US" sz="1000" b="1" dirty="0">
                <a:solidFill>
                  <a:srgbClr val="4B5563"/>
                </a:solidFill>
                <a:latin typeface="Arial" pitchFamily="34" charset="0"/>
                <a:ea typeface="Arial" pitchFamily="34" charset="-122"/>
                <a:cs typeface="Arial" pitchFamily="34" charset="-120"/>
              </a:rPr>
              <a:t>At ~3,200 tokens (1,023-paper subset)</a:t>
            </a:r>
            <a:endParaRPr lang="en-US" sz="1000" dirty="0"/>
          </a:p>
        </p:txBody>
      </p:sp>
      <p:sp>
        <p:nvSpPr>
          <p:cNvPr id="23" name="Text 19"/>
          <p:cNvSpPr txBox="1"/>
          <p:nvPr/>
        </p:nvSpPr>
        <p:spPr>
          <a:xfrm>
            <a:off x="5724144" y="3255264"/>
            <a:ext cx="2880360" cy="77724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5 CoT answers + vote: best HR2 (−0.016) and fewest invented names. 100 samples + count: more true authors (+5.4 per 100).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Arial" pitchFamily="34" charset="0"/>
                <a:ea typeface="Arial" pitchFamily="34" charset="-122"/>
                <a:cs typeface="Arial" pitchFamily="34" charset="-120"/>
              </a:rPr>
              <a:t>06</a:t>
            </a:r>
            <a:pPr indent="0" marL="0">
              <a:buNone/>
            </a:pPr>
            <a:r>
              <a:rPr lang="en-US" sz="900" dirty="0">
                <a:solidFill>
                  <a:srgbClr val="8A8A8A"/>
                </a:solidFill>
                <a:latin typeface="Arial" pitchFamily="34" charset="0"/>
                <a:ea typeface="Arial" pitchFamily="34" charset="-122"/>
                <a:cs typeface="Arial" pitchFamily="34" charset="-120"/>
              </a:rPr>
              <a:t>  Summary</a:t>
            </a:r>
            <a:endParaRPr lang="en-US" sz="900" dirty="0"/>
          </a:p>
        </p:txBody>
      </p:sp>
      <p:sp>
        <p:nvSpPr>
          <p:cNvPr id="3" name="Presenter pill"/>
          <p:cNvSpPr/>
          <p:nvPr/>
        </p:nvSpPr>
        <p:spPr>
          <a:xfrm>
            <a:off x="7059168" y="201168"/>
            <a:ext cx="1673352" cy="283464"/>
          </a:xfrm>
          <a:prstGeom prst="roundRect">
            <a:avLst>
              <a:gd name="adj" fmla="val 25806"/>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Arial" pitchFamily="34" charset="0"/>
                <a:ea typeface="Arial" pitchFamily="34" charset="-122"/>
                <a:cs typeface="Arial" pitchFamily="34" charset="-120"/>
              </a:rPr>
              <a:t>Presenter  </a:t>
            </a:r>
            <a:pPr algn="ctr" indent="0" marL="0">
              <a:buNone/>
            </a:pPr>
            <a:r>
              <a:rPr lang="en-US" sz="800" b="1" dirty="0">
                <a:solidFill>
                  <a:srgbClr val="3442C8"/>
                </a:solidFill>
                <a:latin typeface="Arial" pitchFamily="34" charset="0"/>
                <a:ea typeface="Arial" pitchFamily="34" charset="-122"/>
                <a:cs typeface="Arial"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Arial" pitchFamily="34" charset="0"/>
                <a:ea typeface="Arial" pitchFamily="34" charset="-122"/>
                <a:cs typeface="Arial" pitchFamily="34" charset="-120"/>
              </a:rPr>
              <a:t>In the Steering Unit: What Selection Adds on Known Papers</a:t>
            </a:r>
            <a:endParaRPr lang="en-US" sz="2200" dirty="0"/>
          </a:p>
        </p:txBody>
      </p:sp>
      <p:sp>
        <p:nvSpPr>
          <p:cNvPr id="6" name="Key message"/>
          <p:cNvSpPr/>
          <p:nvPr/>
        </p:nvSpPr>
        <p:spPr>
          <a:xfrm>
            <a:off x="457200" y="4261104"/>
            <a:ext cx="8275320" cy="365760"/>
          </a:xfrm>
          <a:prstGeom prst="roundRect">
            <a:avLst>
              <a:gd name="adj" fmla="val 150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Arial" pitchFamily="34" charset="0"/>
                <a:ea typeface="Arial" pitchFamily="34" charset="-122"/>
                <a:cs typeface="Arial" pitchFamily="34" charset="-120"/>
              </a:rPr>
              <a:t>Generate-then-select needs no model internals; it sets the bar white-box methods should beat at equal compute.</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Arial" pitchFamily="34" charset="0"/>
                <a:ea typeface="Arial" pitchFamily="34" charset="-122"/>
                <a:cs typeface="Arial" pitchFamily="34" charset="-120"/>
              </a:rPr>
              <a:t>06</a:t>
            </a:r>
            <a:endParaRPr lang="en-US" sz="700" dirty="0"/>
          </a:p>
        </p:txBody>
      </p:sp>
      <p:sp>
        <p:nvSpPr>
          <p:cNvPr id="9" name="Text 7"/>
          <p:cNvSpPr txBox="1"/>
          <p:nvPr/>
        </p:nvSpPr>
        <p:spPr>
          <a:xfrm>
            <a:off x="457200" y="1042416"/>
            <a:ext cx="4937760" cy="219456"/>
          </a:xfrm>
          <a:prstGeom prst="rect">
            <a:avLst/>
          </a:prstGeom>
          <a:noFill/>
          <a:ln/>
        </p:spPr>
        <p:txBody>
          <a:bodyPr wrap="square" lIns="0" tIns="0" rIns="0" bIns="0" rtlCol="0" anchor="ctr"/>
          <a:lstStyle/>
          <a:p>
            <a:pPr indent="0" marL="0">
              <a:buNone/>
            </a:pPr>
            <a:r>
              <a:rPr lang="en-US" sz="950" b="1" dirty="0">
                <a:solidFill>
                  <a:srgbClr val="191919"/>
                </a:solidFill>
                <a:latin typeface="Arial" pitchFamily="34" charset="0"/>
                <a:ea typeface="Arial" pitchFamily="34" charset="-122"/>
                <a:cs typeface="Arial" pitchFamily="34" charset="-120"/>
              </a:rPr>
              <a:t>Known test papers (4,271; our labels): true authors named per 100 papers</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4937760" cy="914400"/>
        </p:xfrm>
        <a:graphic>
          <a:graphicData uri="http://schemas.openxmlformats.org/drawingml/2006/table">
            <a:tbl>
              <a:tblPr/>
              <a:tblGrid>
                <a:gridCol w="1828800"/>
                <a:gridCol w="777240"/>
                <a:gridCol w="1417320"/>
                <a:gridCol w="914400"/>
              </a:tblGrid>
              <a:tr h="329184">
                <a:tc>
                  <a:txBody>
                    <a:bodyPr/>
                    <a:lstStyle/>
                    <a:p>
                      <a:pPr algn="l" indent="0" marL="0">
                        <a:buNone/>
                      </a:pPr>
                      <a:r>
                        <a:rPr lang="en-US" sz="800" b="1" dirty="0">
                          <a:solidFill>
                            <a:srgbClr val="8A8A8A"/>
                          </a:solidFill>
                          <a:latin typeface="Arial" pitchFamily="34" charset="0"/>
                          <a:ea typeface="Arial" pitchFamily="34" charset="-122"/>
                          <a:cs typeface="Arial" pitchFamily="34" charset="-120"/>
                        </a:rPr>
                        <a:t>Method</a:t>
                      </a:r>
                      <a:endParaRPr lang="en-US" sz="8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8A8A8A"/>
                          </a:solidFill>
                          <a:latin typeface="Arial" pitchFamily="34" charset="0"/>
                          <a:ea typeface="Arial" pitchFamily="34" charset="-122"/>
                          <a:cs typeface="Arial" pitchFamily="34" charset="-120"/>
                        </a:rPr>
                        <a:t>True / 100</a:t>
                      </a:r>
                      <a:endParaRPr lang="en-US" sz="8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8A8A8A"/>
                          </a:solidFill>
                          <a:latin typeface="Arial" pitchFamily="34" charset="0"/>
                          <a:ea typeface="Arial" pitchFamily="34" charset="-122"/>
                          <a:cs typeface="Arial" pitchFamily="34" charset="-120"/>
                        </a:rPr>
                        <a:t>vs default [95% CI]</a:t>
                      </a:r>
                      <a:endParaRPr lang="en-US" sz="8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r" indent="0" marL="0">
                        <a:buNone/>
                      </a:pPr>
                      <a:r>
                        <a:rPr lang="en-US" sz="800" b="1" dirty="0">
                          <a:solidFill>
                            <a:srgbClr val="8A8A8A"/>
                          </a:solidFill>
                          <a:latin typeface="Arial" pitchFamily="34" charset="0"/>
                          <a:ea typeface="Arial" pitchFamily="34" charset="-122"/>
                          <a:cs typeface="Arial" pitchFamily="34" charset="-120"/>
                        </a:rPr>
                        <a:t>Invented / 100</a:t>
                      </a:r>
                      <a:endParaRPr lang="en-US" sz="8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9184">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Default answer</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11.3</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529</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Thinking (CoT), 1 answer</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16.5</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+5.2 [+3.7, +6.6]</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345</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Names in ≥ 3 of 20 samples</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0FF"/>
                    </a:solidFill>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19.3</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0FF"/>
                    </a:solidFill>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+8.0 [+6.6, +9.4]</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0FF"/>
                    </a:solidFill>
                  </a:tcPr>
                </a:tc>
                <a:tc>
                  <a:txBody>
                    <a:bodyPr/>
                    <a:lstStyle/>
                    <a:p>
                      <a:pPr algn="r" indent="0" marL="0">
                        <a:buNone/>
                      </a:pPr>
                      <a:r>
                        <a:rPr lang="en-US" sz="900" b="1" dirty="0">
                          <a:solidFill>
                            <a:srgbClr val="3442C8"/>
                          </a:solidFill>
                          <a:latin typeface="Arial" pitchFamily="34" charset="0"/>
                          <a:ea typeface="Arial" pitchFamily="34" charset="-122"/>
                          <a:cs typeface="Arial" pitchFamily="34" charset="-120"/>
                        </a:rPr>
                        <a:t>167</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EF0FF"/>
                    </a:solidFill>
                  </a:tcPr>
                </a:tc>
              </a:tr>
              <a:tr h="329184">
                <a:tc>
                  <a:txBody>
                    <a:bodyPr/>
                    <a:lstStyle/>
                    <a:p>
                      <a:pPr algn="l" indent="0" marL="0">
                        <a:buNone/>
                      </a:pPr>
                      <a:r>
                        <a:rPr lang="en-US" sz="900" dirty="0">
                          <a:solidFill>
                            <a:srgbClr val="333333"/>
                          </a:solidFill>
                          <a:latin typeface="Arial" pitchFamily="34" charset="0"/>
                          <a:ea typeface="Arial" pitchFamily="34" charset="-122"/>
                          <a:cs typeface="Arial" pitchFamily="34" charset="-120"/>
                        </a:rPr>
                        <a:t>Names in ≥ 7 of 50 samples</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17.4</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+6.1 [+4.8, +7.4]</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r" indent="0" marL="0">
                        <a:buNone/>
                      </a:pPr>
                      <a:r>
                        <a:rPr lang="en-US" sz="900" dirty="0">
                          <a:solidFill>
                            <a:srgbClr val="333333"/>
                          </a:solidFill>
                          <a:latin typeface="Arial" pitchFamily="34" charset="0"/>
                          <a:ea typeface="Arial" pitchFamily="34" charset="-122"/>
                          <a:cs typeface="Arial" pitchFamily="34" charset="-120"/>
                        </a:rPr>
                        <a:t>111</a:t>
                      </a:r>
                      <a:endParaRPr lang="en-US" sz="900" dirty="0">
                        <a:latin typeface="Arial" charset="0"/>
                        <a:ea typeface="Arial" charset="0"/>
                        <a:cs typeface="Arial" charset="0"/>
                      </a:endParaRPr>
                    </a:p>
                  </a:txBody>
                  <a:tcPr marL="54864" marR="54864" marT="27432" marB="27432">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457200" y="3017520"/>
            <a:ext cx="4937760" cy="365760"/>
          </a:xfrm>
          <a:prstGeom prst="rect">
            <a:avLst/>
          </a:prstGeom>
          <a:noFill/>
          <a:ln/>
        </p:spPr>
        <p:txBody>
          <a:bodyPr wrap="square" lIns="0" tIns="0" rIns="0" bIns="0" rtlCol="0" anchor="t"/>
          <a:lstStyle/>
          <a:p>
            <a:pPr indent="0" marL="0">
              <a:buNone/>
            </a:pPr>
            <a:r>
              <a:rPr lang="en-US" sz="800" dirty="0">
                <a:solidFill>
                  <a:srgbClr val="8A8A8A"/>
                </a:solidFill>
                <a:latin typeface="Arial" pitchFamily="34" charset="0"/>
                <a:ea typeface="Arial" pitchFamily="34" charset="-122"/>
                <a:cs typeface="Arial" pitchFamily="34" charset="-120"/>
              </a:rPr>
              <a:t>Team steering at layer 24: +0.7 to +3.0 over random controls on the team’s 566 known tune papers. Different papers and labels: not a direct comparison yet.</a:t>
            </a:r>
            <a:endParaRPr lang="en-US" sz="800" dirty="0"/>
          </a:p>
        </p:txBody>
      </p:sp>
      <p:sp>
        <p:nvSpPr>
          <p:cNvPr id="12" name="Stricter label"/>
          <p:cNvSpPr/>
          <p:nvPr/>
        </p:nvSpPr>
        <p:spPr>
          <a:xfrm>
            <a:off x="457200" y="3474720"/>
            <a:ext cx="4937760" cy="621792"/>
          </a:xfrm>
          <a:prstGeom prst="roundRect">
            <a:avLst>
              <a:gd name="adj" fmla="val 11765"/>
            </a:avLst>
          </a:prstGeom>
          <a:solidFill>
            <a:srgbClr val="EEF0FF"/>
          </a:solidFill>
          <a:ln w="12700">
            <a:solidFill>
              <a:srgbClr val="EEF0FF"/>
            </a:solidFill>
            <a:prstDash val="solid"/>
          </a:ln>
        </p:spPr>
      </p:sp>
      <p:sp>
        <p:nvSpPr>
          <p:cNvPr id="13" name="Text 10"/>
          <p:cNvSpPr txBox="1"/>
          <p:nvPr/>
        </p:nvSpPr>
        <p:spPr>
          <a:xfrm>
            <a:off x="603504" y="3474720"/>
            <a:ext cx="4663440" cy="621792"/>
          </a:xfrm>
          <a:prstGeom prst="rect">
            <a:avLst/>
          </a:prstGeom>
          <a:noFill/>
          <a:ln/>
        </p:spPr>
        <p:txBody>
          <a:bodyPr wrap="square" lIns="0" tIns="0" rIns="0" bIns="0" rtlCol="0" anchor="ctr"/>
          <a:lstStyle/>
          <a:p>
            <a:pPr indent="0" marL="0">
              <a:buNone/>
            </a:pPr>
            <a:r>
              <a:rPr lang="en-US" sz="850" b="1" dirty="0">
                <a:solidFill>
                  <a:srgbClr val="3442C8"/>
                </a:solidFill>
                <a:latin typeface="Arial" pitchFamily="34" charset="0"/>
                <a:ea typeface="Arial" pitchFamily="34" charset="-122"/>
                <a:cs typeface="Arial" pitchFamily="34" charset="-120"/>
              </a:rPr>
              <a:t>Stricter label, same picture.  </a:t>
            </a:r>
            <a:pPr indent="0" marL="0">
              <a:buNone/>
            </a:pPr>
            <a:r>
              <a:rPr lang="en-US" sz="850" dirty="0">
                <a:solidFill>
                  <a:srgbClr val="333333"/>
                </a:solidFill>
                <a:latin typeface="Arial" pitchFamily="34" charset="0"/>
                <a:ea typeface="Arial" pitchFamily="34" charset="-122"/>
                <a:cs typeface="Arial" pitchFamily="34" charset="-120"/>
              </a:rPr>
              <a:t>Known under the model’s own wrong lists (2,481 test papers): default 16.1 per 100; names in ≥ 3 of 20 samples 27.9 (+11.7); CoT +8.5.</a:t>
            </a:r>
            <a:endParaRPr lang="en-US" sz="850" dirty="0"/>
          </a:p>
        </p:txBody>
      </p:sp>
      <p:sp>
        <p:nvSpPr>
          <p:cNvPr id="14" name="Next"/>
          <p:cNvSpPr/>
          <p:nvPr/>
        </p:nvSpPr>
        <p:spPr>
          <a:xfrm>
            <a:off x="5577840" y="1042416"/>
            <a:ext cx="3154680" cy="3054096"/>
          </a:xfrm>
          <a:prstGeom prst="roundRect">
            <a:avLst>
              <a:gd name="adj" fmla="val 2395"/>
            </a:avLst>
          </a:prstGeom>
          <a:solidFill>
            <a:srgbClr val="F3F4F6"/>
          </a:solidFill>
          <a:ln w="12700">
            <a:solidFill>
              <a:srgbClr val="F3F4F6"/>
            </a:solidFill>
            <a:prstDash val="solid"/>
          </a:ln>
        </p:spPr>
      </p:sp>
      <p:sp>
        <p:nvSpPr>
          <p:cNvPr id="15" name="Text 12"/>
          <p:cNvSpPr txBox="1"/>
          <p:nvPr/>
        </p:nvSpPr>
        <p:spPr>
          <a:xfrm>
            <a:off x="5724144" y="1133856"/>
            <a:ext cx="2880360" cy="237744"/>
          </a:xfrm>
          <a:prstGeom prst="rect">
            <a:avLst/>
          </a:prstGeom>
          <a:noFill/>
          <a:ln/>
        </p:spPr>
        <p:txBody>
          <a:bodyPr wrap="square" lIns="0" tIns="0" rIns="0" bIns="0" rtlCol="0" anchor="ctr"/>
          <a:lstStyle/>
          <a:p>
            <a:pPr indent="0" marL="0">
              <a:buNone/>
            </a:pPr>
            <a:r>
              <a:rPr lang="en-US" sz="1050" b="1" dirty="0">
                <a:solidFill>
                  <a:srgbClr val="191919"/>
                </a:solidFill>
                <a:latin typeface="Arial" pitchFamily="34" charset="0"/>
                <a:ea typeface="Arial" pitchFamily="34" charset="-122"/>
                <a:cs typeface="Arial" pitchFamily="34" charset="-120"/>
              </a:rPr>
              <a:t>Next</a:t>
            </a:r>
            <a:endParaRPr lang="en-US" sz="1050" dirty="0"/>
          </a:p>
        </p:txBody>
      </p:sp>
      <p:sp>
        <p:nvSpPr>
          <p:cNvPr id="16" name="Shape 13"/>
          <p:cNvSpPr/>
          <p:nvPr/>
        </p:nvSpPr>
        <p:spPr>
          <a:xfrm>
            <a:off x="5724144" y="1481328"/>
            <a:ext cx="237744" cy="237744"/>
          </a:xfrm>
          <a:prstGeom prst="ellipse">
            <a:avLst/>
          </a:prstGeom>
          <a:solidFill>
            <a:srgbClr val="5B6CFF"/>
          </a:solidFill>
          <a:ln w="12700">
            <a:solidFill>
              <a:srgbClr val="5B6CFF"/>
            </a:solidFill>
            <a:prstDash val="solid"/>
          </a:ln>
        </p:spPr>
      </p:sp>
      <p:sp>
        <p:nvSpPr>
          <p:cNvPr id="17" name="Text 14"/>
          <p:cNvSpPr txBox="1"/>
          <p:nvPr/>
        </p:nvSpPr>
        <p:spPr>
          <a:xfrm>
            <a:off x="5724144" y="148132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8" name="Text 15"/>
          <p:cNvSpPr txBox="1"/>
          <p:nvPr/>
        </p:nvSpPr>
        <p:spPr>
          <a:xfrm>
            <a:off x="6053328" y="1463040"/>
            <a:ext cx="2560320" cy="274320"/>
          </a:xfrm>
          <a:prstGeom prst="rect">
            <a:avLst/>
          </a:prstGeom>
          <a:noFill/>
          <a:ln/>
        </p:spPr>
        <p:txBody>
          <a:bodyPr wrap="square" lIns="0" tIns="0" rIns="0" bIns="0" rtlCol="0" anchor="ctr"/>
          <a:lstStyle/>
          <a:p>
            <a:pPr indent="0" marL="0">
              <a:buNone/>
            </a:pPr>
            <a:r>
              <a:rPr lang="en-US" sz="1000" b="1" dirty="0">
                <a:solidFill>
                  <a:srgbClr val="191919"/>
                </a:solidFill>
                <a:latin typeface="Arial" pitchFamily="34" charset="0"/>
                <a:ea typeface="Arial" pitchFamily="34" charset="-122"/>
                <a:cs typeface="Arial" pitchFamily="34" charset="-120"/>
              </a:rPr>
              <a:t>Same papers as steering</a:t>
            </a:r>
            <a:endParaRPr lang="en-US" sz="1000" dirty="0"/>
          </a:p>
        </p:txBody>
      </p:sp>
      <p:sp>
        <p:nvSpPr>
          <p:cNvPr id="19" name="Text 16"/>
          <p:cNvSpPr txBox="1"/>
          <p:nvPr/>
        </p:nvSpPr>
        <p:spPr>
          <a:xfrm>
            <a:off x="6053328" y="1755648"/>
            <a:ext cx="25603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Rerun on split V3’s 566 known tune papers</a:t>
            </a:r>
            <a:endParaRPr lang="en-US" sz="900" dirty="0"/>
          </a:p>
        </p:txBody>
      </p:sp>
      <p:sp>
        <p:nvSpPr>
          <p:cNvPr id="20" name="Shape 17"/>
          <p:cNvSpPr/>
          <p:nvPr/>
        </p:nvSpPr>
        <p:spPr>
          <a:xfrm>
            <a:off x="5724144" y="2322576"/>
            <a:ext cx="237744" cy="237744"/>
          </a:xfrm>
          <a:prstGeom prst="ellipse">
            <a:avLst/>
          </a:prstGeom>
          <a:solidFill>
            <a:srgbClr val="5B6CFF"/>
          </a:solidFill>
          <a:ln w="12700">
            <a:solidFill>
              <a:srgbClr val="5B6CFF"/>
            </a:solidFill>
            <a:prstDash val="solid"/>
          </a:ln>
        </p:spPr>
      </p:sp>
      <p:sp>
        <p:nvSpPr>
          <p:cNvPr id="21" name="Text 18"/>
          <p:cNvSpPr txBox="1"/>
          <p:nvPr/>
        </p:nvSpPr>
        <p:spPr>
          <a:xfrm>
            <a:off x="5724144" y="232257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2" name="Text 19"/>
          <p:cNvSpPr txBox="1"/>
          <p:nvPr/>
        </p:nvSpPr>
        <p:spPr>
          <a:xfrm>
            <a:off x="6053328" y="2304288"/>
            <a:ext cx="2560320" cy="274320"/>
          </a:xfrm>
          <a:prstGeom prst="rect">
            <a:avLst/>
          </a:prstGeom>
          <a:noFill/>
          <a:ln/>
        </p:spPr>
        <p:txBody>
          <a:bodyPr wrap="square" lIns="0" tIns="0" rIns="0" bIns="0" rtlCol="0" anchor="ctr"/>
          <a:lstStyle/>
          <a:p>
            <a:pPr indent="0" marL="0">
              <a:buNone/>
            </a:pPr>
            <a:r>
              <a:rPr lang="en-US" sz="1000" b="1" dirty="0">
                <a:solidFill>
                  <a:srgbClr val="191919"/>
                </a:solidFill>
                <a:latin typeface="Arial" pitchFamily="34" charset="0"/>
                <a:ea typeface="Arial" pitchFamily="34" charset="-122"/>
                <a:cs typeface="Arial" pitchFamily="34" charset="-120"/>
              </a:rPr>
              <a:t>More coverage per token</a:t>
            </a:r>
            <a:endParaRPr lang="en-US" sz="1000" dirty="0"/>
          </a:p>
        </p:txBody>
      </p:sp>
      <p:sp>
        <p:nvSpPr>
          <p:cNvPr id="23" name="Text 20"/>
          <p:cNvSpPr txBox="1"/>
          <p:nvPr/>
        </p:nvSpPr>
        <p:spPr>
          <a:xfrm>
            <a:off x="6053328" y="2596896"/>
            <a:ext cx="25603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Ask for authors not yet named; first author alone</a:t>
            </a:r>
            <a:endParaRPr lang="en-US" sz="900" dirty="0"/>
          </a:p>
        </p:txBody>
      </p:sp>
      <p:sp>
        <p:nvSpPr>
          <p:cNvPr id="24" name="Shape 21"/>
          <p:cNvSpPr/>
          <p:nvPr/>
        </p:nvSpPr>
        <p:spPr>
          <a:xfrm>
            <a:off x="5724144" y="3163824"/>
            <a:ext cx="237744" cy="237744"/>
          </a:xfrm>
          <a:prstGeom prst="ellipse">
            <a:avLst/>
          </a:prstGeom>
          <a:solidFill>
            <a:srgbClr val="5B6CFF"/>
          </a:solidFill>
          <a:ln w="12700">
            <a:solidFill>
              <a:srgbClr val="5B6CFF"/>
            </a:solidFill>
            <a:prstDash val="solid"/>
          </a:ln>
        </p:spPr>
      </p:sp>
      <p:sp>
        <p:nvSpPr>
          <p:cNvPr id="25" name="Text 22"/>
          <p:cNvSpPr txBox="1"/>
          <p:nvPr/>
        </p:nvSpPr>
        <p:spPr>
          <a:xfrm>
            <a:off x="5724144" y="316382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6" name="Text 23"/>
          <p:cNvSpPr txBox="1"/>
          <p:nvPr/>
        </p:nvSpPr>
        <p:spPr>
          <a:xfrm>
            <a:off x="6053328" y="3145536"/>
            <a:ext cx="2560320" cy="274320"/>
          </a:xfrm>
          <a:prstGeom prst="rect">
            <a:avLst/>
          </a:prstGeom>
          <a:noFill/>
          <a:ln/>
        </p:spPr>
        <p:txBody>
          <a:bodyPr wrap="square" lIns="0" tIns="0" rIns="0" bIns="0" rtlCol="0" anchor="ctr"/>
          <a:lstStyle/>
          <a:p>
            <a:pPr indent="0" marL="0">
              <a:buNone/>
            </a:pPr>
            <a:r>
              <a:rPr lang="en-US" sz="1000" b="1" dirty="0">
                <a:solidFill>
                  <a:srgbClr val="191919"/>
                </a:solidFill>
                <a:latin typeface="Arial" pitchFamily="34" charset="0"/>
                <a:ea typeface="Arial" pitchFamily="34" charset="-122"/>
                <a:cs typeface="Arial" pitchFamily="34" charset="-120"/>
              </a:rPr>
              <a:t>Better selection</a:t>
            </a:r>
            <a:endParaRPr lang="en-US" sz="1000" dirty="0"/>
          </a:p>
        </p:txBody>
      </p:sp>
      <p:sp>
        <p:nvSpPr>
          <p:cNvPr id="27" name="Text 24"/>
          <p:cNvSpPr txBox="1"/>
          <p:nvPr/>
        </p:nvSpPr>
        <p:spPr>
          <a:xfrm>
            <a:off x="6053328" y="3438144"/>
            <a:ext cx="2560320" cy="457200"/>
          </a:xfrm>
          <a:prstGeom prst="rect">
            <a:avLst/>
          </a:prstGeom>
          <a:noFill/>
          <a:ln/>
        </p:spPr>
        <p:txBody>
          <a:bodyPr wrap="square" lIns="0" tIns="0" rIns="0" bIns="0" rtlCol="0" anchor="t"/>
          <a:lstStyle/>
          <a:p>
            <a:pPr indent="0" marL="0">
              <a:buNone/>
            </a:pPr>
            <a:r>
              <a:rPr lang="en-US" sz="900" dirty="0">
                <a:solidFill>
                  <a:srgbClr val="333333"/>
                </a:solidFill>
                <a:latin typeface="Arial" pitchFamily="34" charset="0"/>
                <a:ea typeface="Arial" pitchFamily="34" charset="-122"/>
                <a:cs typeface="Arial" pitchFamily="34" charset="-120"/>
              </a:rPr>
              <a:t>Counting plus candidate choice; reachable split at 10, 50 and 200 samples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Generate-then-Select: Results</dc:title>
  <dc:subject>PptxGenJS Presentation</dc:subject>
  <dc:creator>PptxGenJS</dc:creator>
  <cp:lastModifiedBy>PptxGenJS</cp:lastModifiedBy>
  <cp:revision>1</cp:revision>
  <dcterms:created xsi:type="dcterms:W3CDTF">2026-10-26T20:24:19Z</dcterms:created>
  <dcterms:modified xsi:type="dcterms:W3CDTF">2026-10-26T20:24:19Z</dcterms:modified>
</cp:coreProperties>
</file>