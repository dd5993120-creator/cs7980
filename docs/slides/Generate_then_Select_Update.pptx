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Full-dataset sampling: greedy plus 50 sampled author lists per paper, names normalized and matched by last name plus first initial. We measure whether the true author ever appears, and compare against a chance baseline because common surnames match by luck.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Distractors come from the model's own sampled wrong answers: they are what the model would actually say, so they are the hardest to reject, and they match the selection setting. This complements Hana's Step 1.5 (real co-author swapped in) rather than repeating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Combining sampling with the hard recognition test splits each recall failure: never generated versus generated but not chosen. Reachable papers are what selection can fix; recognized-but-unreachable papers are where steering and J-Lens may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full sampling run and distractors from sampled answers. Next: selection methods on the candidate pools, compared at equal compute. By Update 1 on 10/26: the per-paper failure split, shared with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7980  ·  Enhancing Memory of LLMs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0184" y="4800600"/>
            <a:ext cx="411480" cy="2103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0184" y="4800600"/>
            <a:ext cx="411480" cy="2103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411480" y="237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Sampling</a:t>
            </a:r>
            <a:endParaRPr lang="en-US" sz="1000" dirty="0"/>
          </a:p>
        </p:txBody>
      </p:sp>
      <p:sp>
        <p:nvSpPr>
          <p:cNvPr id="3" name="Presenter pill"/>
          <p:cNvSpPr/>
          <p:nvPr/>
        </p:nvSpPr>
        <p:spPr>
          <a:xfrm>
            <a:off x="6995160" y="210312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Presenter"/>
          <p:cNvSpPr txBox="1"/>
          <p:nvPr/>
        </p:nvSpPr>
        <p:spPr>
          <a:xfrm>
            <a:off x="6995160" y="21031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9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900" dirty="0"/>
          </a:p>
        </p:txBody>
      </p:sp>
      <p:sp>
        <p:nvSpPr>
          <p:cNvPr id="5" name="Title"/>
          <p:cNvSpPr txBox="1"/>
          <p:nvPr/>
        </p:nvSpPr>
        <p:spPr>
          <a:xfrm>
            <a:off x="411480" y="512064"/>
            <a:ext cx="8293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Candidate Author Lists for Every Paper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64108" cy="237744"/>
          </a:xfrm>
          <a:prstGeom prst="roundRect">
            <a:avLst>
              <a:gd name="adj" fmla="val 19231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115568"/>
            <a:ext cx="86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85316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on all 9,108 papers</a:t>
            </a:r>
            <a:endParaRPr lang="en-US" sz="1000" dirty="0"/>
          </a:p>
        </p:txBody>
      </p:sp>
      <p:sp>
        <p:nvSpPr>
          <p:cNvPr id="9" name="Step 1"/>
          <p:cNvSpPr/>
          <p:nvPr/>
        </p:nvSpPr>
        <p:spPr>
          <a:xfrm>
            <a:off x="411480" y="1536192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64208"/>
            <a:ext cx="274320" cy="27432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year sent to the model as an open question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13432" y="2048256"/>
            <a:ext cx="219456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tep 2"/>
          <p:cNvSpPr/>
          <p:nvPr/>
        </p:nvSpPr>
        <p:spPr>
          <a:xfrm>
            <a:off x="2560320" y="1536192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1664208"/>
            <a:ext cx="274320" cy="27432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greedy + 50 sampled author lists per paper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62272" y="2048256"/>
            <a:ext cx="219456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Step 3"/>
          <p:cNvSpPr/>
          <p:nvPr/>
        </p:nvSpPr>
        <p:spPr>
          <a:xfrm>
            <a:off x="4709160" y="1536192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664208"/>
            <a:ext cx="274320" cy="27432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names; last name + first initial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11112" y="2048256"/>
            <a:ext cx="219456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7" name="Step 4"/>
          <p:cNvSpPr/>
          <p:nvPr/>
        </p:nvSpPr>
        <p:spPr>
          <a:xfrm>
            <a:off x="6858000" y="1536192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5160" y="1664208"/>
            <a:ext cx="274320" cy="27432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candidate names per paper, with counts</a:t>
            </a:r>
            <a:endParaRPr lang="en-US" sz="1050" dirty="0"/>
          </a:p>
        </p:txBody>
      </p:sp>
      <p:sp>
        <p:nvSpPr>
          <p:cNvPr id="32" name="What we measure"/>
          <p:cNvSpPr/>
          <p:nvPr/>
        </p:nvSpPr>
        <p:spPr>
          <a:xfrm>
            <a:off x="411480" y="2788920"/>
            <a:ext cx="4069080" cy="1783080"/>
          </a:xfrm>
          <a:prstGeom prst="roundRect">
            <a:avLst>
              <a:gd name="adj" fmla="val 3077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measure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324612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true author ever appear among the samples?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Coverage@k: chance that it appears at least once in k samples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papers: greedy is wrong, but the true author is in the pool</a:t>
            </a:r>
            <a:endParaRPr lang="en-US" sz="1100" dirty="0"/>
          </a:p>
        </p:txBody>
      </p:sp>
      <p:sp>
        <p:nvSpPr>
          <p:cNvPr id="35" name="Chance baseline"/>
          <p:cNvSpPr/>
          <p:nvPr/>
        </p:nvSpPr>
        <p:spPr>
          <a:xfrm>
            <a:off x="4663440" y="2788920"/>
            <a:ext cx="4069080" cy="1783080"/>
          </a:xfrm>
          <a:prstGeom prst="roundRect">
            <a:avLst>
              <a:gd name="adj" fmla="val 3077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baseline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24612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surnames match by luck: 50 samples often contain some “J. Wang”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paper’s samples against another paper’s authors (same field and citation bin)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coverage above this baseline counts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0184" y="4800600"/>
            <a:ext cx="411480" cy="2103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411480" y="237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Distractors</a:t>
            </a:r>
            <a:endParaRPr lang="en-US" sz="1000" dirty="0"/>
          </a:p>
        </p:txBody>
      </p:sp>
      <p:sp>
        <p:nvSpPr>
          <p:cNvPr id="3" name="Presenter pill"/>
          <p:cNvSpPr/>
          <p:nvPr/>
        </p:nvSpPr>
        <p:spPr>
          <a:xfrm>
            <a:off x="6995160" y="210312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Presenter"/>
          <p:cNvSpPr txBox="1"/>
          <p:nvPr/>
        </p:nvSpPr>
        <p:spPr>
          <a:xfrm>
            <a:off x="6995160" y="21031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9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900" dirty="0"/>
          </a:p>
        </p:txBody>
      </p:sp>
      <p:sp>
        <p:nvSpPr>
          <p:cNvPr id="5" name="Title"/>
          <p:cNvSpPr txBox="1"/>
          <p:nvPr/>
        </p:nvSpPr>
        <p:spPr>
          <a:xfrm>
            <a:off x="411480" y="512064"/>
            <a:ext cx="8293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Distractors Built from the Model’s Own Answers</a:t>
            </a:r>
            <a:endParaRPr lang="en-US" sz="2400" dirty="0"/>
          </a:p>
        </p:txBody>
      </p:sp>
      <p:sp>
        <p:nvSpPr>
          <p:cNvPr id="6" name="Example item"/>
          <p:cNvSpPr/>
          <p:nvPr/>
        </p:nvSpPr>
        <p:spPr>
          <a:xfrm>
            <a:off x="411480" y="1188720"/>
            <a:ext cx="4206240" cy="3383280"/>
          </a:xfrm>
          <a:prstGeom prst="roundRect">
            <a:avLst>
              <a:gd name="adj" fmla="val 1622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authors of the paper titled ‘…’, published in …?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920240"/>
            <a:ext cx="274320" cy="274320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author list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947672"/>
            <a:ext cx="978408" cy="219456"/>
          </a:xfrm>
          <a:prstGeom prst="roundRect">
            <a:avLst>
              <a:gd name="adj" fmla="val 20833"/>
            </a:avLst>
          </a:prstGeom>
          <a:solidFill>
            <a:srgbClr val="EEEFF2"/>
          </a:solidFill>
          <a:ln w="12700">
            <a:solidFill>
              <a:srgbClr val="EEEF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4767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395728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2487168"/>
            <a:ext cx="274320" cy="27432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list the model sampled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4992" y="2514600"/>
            <a:ext cx="978408" cy="219456"/>
          </a:xfrm>
          <a:prstGeom prst="roundRect">
            <a:avLst>
              <a:gd name="adj" fmla="val 20833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64992" y="2514600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samples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2962656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3054096"/>
            <a:ext cx="274320" cy="27432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sampled wrong list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3081528"/>
            <a:ext cx="978408" cy="219456"/>
          </a:xfrm>
          <a:prstGeom prst="roundRect">
            <a:avLst>
              <a:gd name="adj" fmla="val 20833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64992" y="30815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samples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3529584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621024"/>
            <a:ext cx="274320" cy="2743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5295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above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4992" y="3648456"/>
            <a:ext cx="978408" cy="219456"/>
          </a:xfrm>
          <a:prstGeom prst="roundRect">
            <a:avLst>
              <a:gd name="adj" fmla="val 20833"/>
            </a:avLst>
          </a:prstGeom>
          <a:solidFill>
            <a:srgbClr val="EEEFF2"/>
          </a:solidFill>
          <a:ln w="12700">
            <a:solidFill>
              <a:srgbClr val="EEEF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64992" y="3648456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trials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name format for every option · asked in four option orders</a:t>
            </a:r>
            <a:endParaRPr lang="en-US" sz="950" dirty="0"/>
          </a:p>
        </p:txBody>
      </p:sp>
      <p:sp>
        <p:nvSpPr>
          <p:cNvPr id="33" name="Why"/>
          <p:cNvSpPr/>
          <p:nvPr/>
        </p:nvSpPr>
        <p:spPr>
          <a:xfrm>
            <a:off x="4846320" y="1188720"/>
            <a:ext cx="3886200" cy="1600200"/>
          </a:xfrm>
          <a:prstGeom prst="roundRect">
            <a:avLst>
              <a:gd name="adj" fmla="val 3429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model’s own wrong answers?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16276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would actually say: same field, same name style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wrong options to reject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setting as selection: choosing among its own samples</a:t>
            </a:r>
            <a:endParaRPr lang="en-US" sz="1100" dirty="0"/>
          </a:p>
        </p:txBody>
      </p:sp>
      <p:sp>
        <p:nvSpPr>
          <p:cNvPr id="36" name="Division of labor"/>
          <p:cNvSpPr/>
          <p:nvPr/>
        </p:nvSpPr>
        <p:spPr>
          <a:xfrm>
            <a:off x="4846320" y="2971800"/>
            <a:ext cx="3886200" cy="1600200"/>
          </a:xfrm>
          <a:prstGeom prst="roundRect">
            <a:avLst>
              <a:gd name="adj" fmla="val 3429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builds which distractors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3419856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(Step 1.5):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co-author swapped in; true-author probability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lists taken from the model’s samples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title-hidden and title-swapped controls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0184" y="4800600"/>
            <a:ext cx="411480" cy="2103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411480" y="237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Failure split</a:t>
            </a:r>
            <a:endParaRPr lang="en-US" sz="1000" dirty="0"/>
          </a:p>
        </p:txBody>
      </p:sp>
      <p:sp>
        <p:nvSpPr>
          <p:cNvPr id="3" name="Presenter pill"/>
          <p:cNvSpPr/>
          <p:nvPr/>
        </p:nvSpPr>
        <p:spPr>
          <a:xfrm>
            <a:off x="6995160" y="210312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Presenter"/>
          <p:cNvSpPr txBox="1"/>
          <p:nvPr/>
        </p:nvSpPr>
        <p:spPr>
          <a:xfrm>
            <a:off x="6995160" y="21031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9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900" dirty="0"/>
          </a:p>
        </p:txBody>
      </p:sp>
      <p:sp>
        <p:nvSpPr>
          <p:cNvPr id="5" name="Title"/>
          <p:cNvSpPr txBox="1"/>
          <p:nvPr/>
        </p:nvSpPr>
        <p:spPr>
          <a:xfrm>
            <a:off x="411480" y="512064"/>
            <a:ext cx="8293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Generated, or Generated but Not Chosen?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070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author in samples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2070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 samples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572768"/>
            <a:ext cx="1005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Recognized in hard test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926080"/>
            <a:ext cx="1005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recognized</a:t>
            </a:r>
            <a:endParaRPr lang="en-US" sz="1050" dirty="0"/>
          </a:p>
        </p:txBody>
      </p:sp>
      <p:sp>
        <p:nvSpPr>
          <p:cNvPr id="10" name="Reachable"/>
          <p:cNvSpPr/>
          <p:nvPr/>
        </p:nvSpPr>
        <p:spPr>
          <a:xfrm>
            <a:off x="1508760" y="1572768"/>
            <a:ext cx="1965960" cy="1261872"/>
          </a:xfrm>
          <a:prstGeom prst="roundRect">
            <a:avLst>
              <a:gd name="adj" fmla="val 4348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304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can fix it</a:t>
            </a:r>
            <a:endParaRPr lang="en-US" sz="1050" dirty="0"/>
          </a:p>
        </p:txBody>
      </p:sp>
      <p:sp>
        <p:nvSpPr>
          <p:cNvPr id="13" name="Recognized but unreachable"/>
          <p:cNvSpPr/>
          <p:nvPr/>
        </p:nvSpPr>
        <p:spPr>
          <a:xfrm>
            <a:off x="3566160" y="1572768"/>
            <a:ext cx="1965960" cy="1261872"/>
          </a:xfrm>
          <a:prstGeom prst="roundRect">
            <a:avLst>
              <a:gd name="adj" fmla="val 4348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8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Recognized but unreachable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304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steering or J-Lens</a:t>
            </a:r>
            <a:endParaRPr lang="en-US" sz="1050" dirty="0"/>
          </a:p>
        </p:txBody>
      </p:sp>
      <p:sp>
        <p:nvSpPr>
          <p:cNvPr id="16" name="Rare case"/>
          <p:cNvSpPr/>
          <p:nvPr/>
        </p:nvSpPr>
        <p:spPr>
          <a:xfrm>
            <a:off x="1508760" y="2926080"/>
            <a:ext cx="1965960" cy="1261872"/>
          </a:xfrm>
          <a:prstGeom prst="roundRect">
            <a:avLst>
              <a:gd name="adj" fmla="val 4348"/>
            </a:avLst>
          </a:prstGeom>
          <a:solidFill>
            <a:srgbClr val="EEEFF2"/>
          </a:solidFill>
          <a:ln w="12700">
            <a:solidFill>
              <a:srgbClr val="EEEF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case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chance matches</a:t>
            </a:r>
            <a:endParaRPr lang="en-US" sz="1050" dirty="0"/>
          </a:p>
        </p:txBody>
      </p:sp>
      <p:sp>
        <p:nvSpPr>
          <p:cNvPr id="19" name="Not recognized"/>
          <p:cNvSpPr/>
          <p:nvPr/>
        </p:nvSpPr>
        <p:spPr>
          <a:xfrm>
            <a:off x="3566160" y="2926080"/>
            <a:ext cx="1965960" cy="1261872"/>
          </a:xfrm>
          <a:prstGeom prst="roundRect">
            <a:avLst>
              <a:gd name="adj" fmla="val 4348"/>
            </a:avLst>
          </a:prstGeom>
          <a:solidFill>
            <a:srgbClr val="EEEFF2"/>
          </a:solidFill>
          <a:ln w="12700">
            <a:solidFill>
              <a:srgbClr val="EEEF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recognized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not stored; negative control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4315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the model already answers correctly count as direct recall.</a:t>
            </a:r>
            <a:endParaRPr lang="en-US" sz="950" dirty="0"/>
          </a:p>
        </p:txBody>
      </p:sp>
      <p:sp>
        <p:nvSpPr>
          <p:cNvPr id="23" name="Why it matters"/>
          <p:cNvSpPr/>
          <p:nvPr/>
        </p:nvSpPr>
        <p:spPr>
          <a:xfrm>
            <a:off x="5760720" y="1207008"/>
            <a:ext cx="2971800" cy="3364992"/>
          </a:xfrm>
          <a:prstGeom prst="roundRect">
            <a:avLst>
              <a:gd name="adj" fmla="val 1846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1335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169164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8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generated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cannot reach it; white-box methods may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but not chosen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selection can fix it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paper, per citation bin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shared with the team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0184" y="4800600"/>
            <a:ext cx="411480" cy="2103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411480" y="237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Next steps</a:t>
            </a:r>
            <a:endParaRPr lang="en-US" sz="1000" dirty="0"/>
          </a:p>
        </p:txBody>
      </p:sp>
      <p:sp>
        <p:nvSpPr>
          <p:cNvPr id="3" name="Presenter pill"/>
          <p:cNvSpPr/>
          <p:nvPr/>
        </p:nvSpPr>
        <p:spPr>
          <a:xfrm>
            <a:off x="6995160" y="210312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Presenter"/>
          <p:cNvSpPr txBox="1"/>
          <p:nvPr/>
        </p:nvSpPr>
        <p:spPr>
          <a:xfrm>
            <a:off x="6995160" y="21031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9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900" dirty="0"/>
          </a:p>
        </p:txBody>
      </p:sp>
      <p:sp>
        <p:nvSpPr>
          <p:cNvPr id="5" name="Title"/>
          <p:cNvSpPr txBox="1"/>
          <p:nvPr/>
        </p:nvSpPr>
        <p:spPr>
          <a:xfrm>
            <a:off x="411480" y="512064"/>
            <a:ext cx="8293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Toward Update 1</a:t>
            </a:r>
            <a:endParaRPr lang="en-US" sz="2400" dirty="0"/>
          </a:p>
        </p:txBody>
      </p:sp>
      <p:sp>
        <p:nvSpPr>
          <p:cNvPr id="6" name="NOW"/>
          <p:cNvSpPr/>
          <p:nvPr/>
        </p:nvSpPr>
        <p:spPr>
          <a:xfrm>
            <a:off x="411480" y="1234440"/>
            <a:ext cx="2606040" cy="2697480"/>
          </a:xfrm>
          <a:prstGeom prst="roundRect">
            <a:avLst>
              <a:gd name="adj" fmla="val 2105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89888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sampling run on all 9,108 papers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distractors from the model’s sampled answers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44952" y="2578608"/>
            <a:ext cx="173736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1" name="NEXT"/>
          <p:cNvSpPr/>
          <p:nvPr/>
        </p:nvSpPr>
        <p:spPr>
          <a:xfrm>
            <a:off x="3246120" y="1234440"/>
            <a:ext cx="2606040" cy="2697480"/>
          </a:xfrm>
          <a:prstGeom prst="roundRect">
            <a:avLst>
              <a:gd name="adj" fmla="val 210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389888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on candidate pools: majority vote, P(True), multiple choice with “none of the above”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at equal compute with greedy and CoT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79592" y="2578608"/>
            <a:ext cx="173736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BY UPDATE 1 · 10/26"/>
          <p:cNvSpPr/>
          <p:nvPr/>
        </p:nvSpPr>
        <p:spPr>
          <a:xfrm>
            <a:off x="6080760" y="1234440"/>
            <a:ext cx="2606040" cy="2697480"/>
          </a:xfrm>
          <a:prstGeom prst="roundRect">
            <a:avLst>
              <a:gd name="adj" fmla="val 210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389888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UPDATE 1 · 10/26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Per-paper failure split: never generated vs. not chosen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shared with Hana and Zhiqi</a:t>
            </a:r>
            <a:endParaRPr lang="en-US" sz="1100" dirty="0"/>
          </a:p>
        </p:txBody>
      </p:sp>
      <p:sp>
        <p:nvSpPr>
          <p:cNvPr id="20" name="Data rule"/>
          <p:cNvSpPr/>
          <p:nvPr/>
        </p:nvSpPr>
        <p:spPr>
          <a:xfrm>
            <a:off x="411480" y="4096512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EEEFF2"/>
          </a:solidFill>
          <a:ln w="12700">
            <a:solidFill>
              <a:srgbClr val="EEEF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965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rule: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uses only the shared tune split; results are reported on the shared test split and on all 9,108 papers.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0184" y="4800600"/>
            <a:ext cx="411480" cy="2103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Generate-then-Select: Progress Update</dc:title>
  <dc:subject>PptxGenJS Presentation</dc:subject>
  <dc:creator>PptxGenJS</dc:creator>
  <cp:lastModifiedBy>PptxGenJS</cp:lastModifiedBy>
  <cp:revision>1</cp:revision>
  <dcterms:created xsi:type="dcterms:W3CDTF">2026-10-19T20:49:40Z</dcterms:created>
  <dcterms:modified xsi:type="dcterms:W3CDTF">2026-10-19T20:49:40Z</dcterms:modified>
</cp:coreProperties>
</file>